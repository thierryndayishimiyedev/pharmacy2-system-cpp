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E33"/>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028090"/>
          </a:solidFill>
          <a:ln/>
        </p:spPr>
      </p:sp>
      <p:sp>
        <p:nvSpPr>
          <p:cNvPr id="3" name="Shape 1"/>
          <p:cNvSpPr/>
          <p:nvPr/>
        </p:nvSpPr>
        <p:spPr>
          <a:xfrm>
            <a:off x="9692640" y="-1463040"/>
            <a:ext cx="4572000" cy="4572000"/>
          </a:xfrm>
          <a:prstGeom prst="ellipse">
            <a:avLst/>
          </a:prstGeom>
          <a:solidFill>
            <a:srgbClr val="00A896">
              <a:alpha val="12000"/>
            </a:srgbClr>
          </a:solidFill>
          <a:ln/>
        </p:spPr>
      </p:sp>
      <p:sp>
        <p:nvSpPr>
          <p:cNvPr id="4" name="Shape 2"/>
          <p:cNvSpPr/>
          <p:nvPr/>
        </p:nvSpPr>
        <p:spPr>
          <a:xfrm>
            <a:off x="-1645920" y="4206240"/>
            <a:ext cx="4114800" cy="4114800"/>
          </a:xfrm>
          <a:prstGeom prst="ellipse">
            <a:avLst/>
          </a:prstGeom>
          <a:solidFill>
            <a:srgbClr val="02C39A">
              <a:alpha val="10000"/>
            </a:srgbClr>
          </a:solidFill>
          <a:ln/>
        </p:spPr>
      </p:sp>
      <p:sp>
        <p:nvSpPr>
          <p:cNvPr id="5" name="Text 3"/>
          <p:cNvSpPr/>
          <p:nvPr/>
        </p:nvSpPr>
        <p:spPr>
          <a:xfrm>
            <a:off x="822960" y="1463040"/>
            <a:ext cx="10058400" cy="365760"/>
          </a:xfrm>
          <a:prstGeom prst="rect">
            <a:avLst/>
          </a:prstGeom>
          <a:noFill/>
          <a:ln/>
        </p:spPr>
        <p:txBody>
          <a:bodyPr wrap="square" rtlCol="0" anchor="ctr"/>
          <a:lstStyle/>
          <a:p>
            <a:pPr indent="0" marL="0">
              <a:buNone/>
            </a:pPr>
            <a:r>
              <a:rPr lang="en-US" sz="1400" b="1" spc="300" kern="0" dirty="0">
                <a:solidFill>
                  <a:srgbClr val="02C39A"/>
                </a:solidFill>
                <a:latin typeface="Calibri" pitchFamily="34" charset="0"/>
                <a:ea typeface="Calibri" pitchFamily="34" charset="-122"/>
                <a:cs typeface="Calibri" pitchFamily="34" charset="-120"/>
              </a:rPr>
              <a:t>CAT PRACTICE  •  PROJECT BASED ASSESSMENT</a:t>
            </a:r>
            <a:endParaRPr lang="en-US" sz="1400" dirty="0"/>
          </a:p>
        </p:txBody>
      </p:sp>
      <p:sp>
        <p:nvSpPr>
          <p:cNvPr id="6" name="Text 4"/>
          <p:cNvSpPr/>
          <p:nvPr/>
        </p:nvSpPr>
        <p:spPr>
          <a:xfrm>
            <a:off x="822960" y="1965960"/>
            <a:ext cx="10515600" cy="914400"/>
          </a:xfrm>
          <a:prstGeom prst="rect">
            <a:avLst/>
          </a:prstGeom>
          <a:noFill/>
          <a:ln/>
        </p:spPr>
        <p:txBody>
          <a:bodyPr wrap="square"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MOTHERLAND PHARMACY</a:t>
            </a:r>
            <a:endParaRPr lang="en-US" sz="4400" dirty="0"/>
          </a:p>
        </p:txBody>
      </p:sp>
      <p:sp>
        <p:nvSpPr>
          <p:cNvPr id="7" name="Text 5"/>
          <p:cNvSpPr/>
          <p:nvPr/>
        </p:nvSpPr>
        <p:spPr>
          <a:xfrm>
            <a:off x="822960" y="2697480"/>
            <a:ext cx="10515600" cy="914400"/>
          </a:xfrm>
          <a:prstGeom prst="rect">
            <a:avLst/>
          </a:prstGeom>
          <a:noFill/>
          <a:ln/>
        </p:spPr>
        <p:txBody>
          <a:bodyPr wrap="square" rtlCol="0" anchor="ctr"/>
          <a:lstStyle/>
          <a:p>
            <a:pPr indent="0" marL="0">
              <a:buNone/>
            </a:pPr>
            <a:r>
              <a:rPr lang="en-US" sz="4400" b="1" dirty="0">
                <a:solidFill>
                  <a:srgbClr val="00A896"/>
                </a:solidFill>
                <a:latin typeface="Cambria" pitchFamily="34" charset="0"/>
                <a:ea typeface="Cambria" pitchFamily="34" charset="-122"/>
                <a:cs typeface="Cambria" pitchFamily="34" charset="-120"/>
              </a:rPr>
              <a:t>MANAGEMENT SYSTEM</a:t>
            </a:r>
            <a:endParaRPr lang="en-US" sz="4400" dirty="0"/>
          </a:p>
        </p:txBody>
      </p:sp>
      <p:sp>
        <p:nvSpPr>
          <p:cNvPr id="8" name="Text 6"/>
          <p:cNvSpPr/>
          <p:nvPr/>
        </p:nvSpPr>
        <p:spPr>
          <a:xfrm>
            <a:off x="822960" y="3611880"/>
            <a:ext cx="9601200" cy="457200"/>
          </a:xfrm>
          <a:prstGeom prst="rect">
            <a:avLst/>
          </a:prstGeom>
          <a:noFill/>
          <a:ln/>
        </p:spPr>
        <p:txBody>
          <a:bodyPr wrap="square" rtlCol="0" anchor="ctr"/>
          <a:lstStyle/>
          <a:p>
            <a:pPr indent="0" marL="0">
              <a:buNone/>
            </a:pPr>
            <a:r>
              <a:rPr lang="en-US" sz="1600" i="1" dirty="0">
                <a:solidFill>
                  <a:srgbClr val="CADCDA"/>
                </a:solidFill>
                <a:latin typeface="Calibri" pitchFamily="34" charset="0"/>
                <a:ea typeface="Calibri" pitchFamily="34" charset="-122"/>
                <a:cs typeface="Calibri" pitchFamily="34" charset="-120"/>
              </a:rPr>
              <a:t>A Console-Based Pharmacy Management System Developed in C with a MySQL Database</a:t>
            </a:r>
            <a:endParaRPr lang="en-US" sz="1600" dirty="0"/>
          </a:p>
        </p:txBody>
      </p:sp>
      <p:sp>
        <p:nvSpPr>
          <p:cNvPr id="9" name="Shape 7"/>
          <p:cNvSpPr/>
          <p:nvPr/>
        </p:nvSpPr>
        <p:spPr>
          <a:xfrm>
            <a:off x="822960" y="4206240"/>
            <a:ext cx="2926080" cy="0"/>
          </a:xfrm>
          <a:prstGeom prst="line">
            <a:avLst/>
          </a:prstGeom>
          <a:noFill/>
          <a:ln w="25400">
            <a:solidFill>
              <a:srgbClr val="02C39A"/>
            </a:solidFill>
            <a:prstDash val="solid"/>
          </a:ln>
        </p:spPr>
      </p:sp>
      <p:sp>
        <p:nvSpPr>
          <p:cNvPr id="10" name="Text 8"/>
          <p:cNvSpPr/>
          <p:nvPr/>
        </p:nvSpPr>
        <p:spPr>
          <a:xfrm>
            <a:off x="822960" y="4480560"/>
            <a:ext cx="7315200" cy="365760"/>
          </a:xfrm>
          <a:prstGeom prst="rect">
            <a:avLst/>
          </a:prstGeom>
          <a:noFill/>
          <a:ln/>
        </p:spPr>
        <p:txBody>
          <a:bodyPr wrap="square" rtlCol="0" anchor="ctr"/>
          <a:lstStyle/>
          <a:p>
            <a:pPr indent="0" marL="0">
              <a:buNone/>
            </a:pPr>
            <a:r>
              <a:rPr lang="en-US" sz="1600" b="1" dirty="0">
                <a:solidFill>
                  <a:srgbClr val="02C39A"/>
                </a:solidFill>
                <a:latin typeface="Calibri" pitchFamily="34" charset="0"/>
                <a:ea typeface="Calibri" pitchFamily="34" charset="-122"/>
                <a:cs typeface="Calibri" pitchFamily="34" charset="-120"/>
              </a:rPr>
              <a:t>Submitted by:  </a:t>
            </a:r>
            <a:pPr indent="0" marL="0">
              <a:buNone/>
            </a:pPr>
            <a:r>
              <a:rPr lang="en-US" sz="1600" dirty="0">
                <a:solidFill>
                  <a:srgbClr val="FFFFFF"/>
                </a:solidFill>
                <a:latin typeface="Calibri" pitchFamily="34" charset="0"/>
                <a:ea typeface="Calibri" pitchFamily="34" charset="-122"/>
                <a:cs typeface="Calibri" pitchFamily="34" charset="-120"/>
              </a:rPr>
              <a:t>Thierry NDAYISHIMIYE</a:t>
            </a:r>
            <a:endParaRPr lang="en-US" sz="1600" dirty="0"/>
          </a:p>
        </p:txBody>
      </p:sp>
      <p:sp>
        <p:nvSpPr>
          <p:cNvPr id="11" name="Text 9"/>
          <p:cNvSpPr/>
          <p:nvPr/>
        </p:nvSpPr>
        <p:spPr>
          <a:xfrm>
            <a:off x="822960" y="4846320"/>
            <a:ext cx="8229600" cy="365760"/>
          </a:xfrm>
          <a:prstGeom prst="rect">
            <a:avLst/>
          </a:prstGeom>
          <a:noFill/>
          <a:ln/>
        </p:spPr>
        <p:txBody>
          <a:bodyPr wrap="square" rtlCol="0" anchor="ctr"/>
          <a:lstStyle/>
          <a:p>
            <a:pPr indent="0" marL="0">
              <a:buNone/>
            </a:pPr>
            <a:r>
              <a:rPr lang="en-US" sz="1600" b="1" dirty="0">
                <a:solidFill>
                  <a:srgbClr val="02C39A"/>
                </a:solidFill>
                <a:latin typeface="Calibri" pitchFamily="34" charset="0"/>
                <a:ea typeface="Calibri" pitchFamily="34" charset="-122"/>
                <a:cs typeface="Calibri" pitchFamily="34" charset="-120"/>
              </a:rPr>
              <a:t>Institution:  </a:t>
            </a:r>
            <a:pPr indent="0" marL="0">
              <a:buNone/>
            </a:pPr>
            <a:r>
              <a:rPr lang="en-US" sz="1600" dirty="0">
                <a:solidFill>
                  <a:srgbClr val="FFFFFF"/>
                </a:solidFill>
                <a:latin typeface="Calibri" pitchFamily="34" charset="0"/>
                <a:ea typeface="Calibri" pitchFamily="34" charset="-122"/>
                <a:cs typeface="Calibri" pitchFamily="34" charset="-120"/>
              </a:rPr>
              <a:t>Rwanda Polytechnic (RP) – Karongi College</a:t>
            </a:r>
            <a:endParaRPr lang="en-US" sz="1600" dirty="0"/>
          </a:p>
        </p:txBody>
      </p:sp>
      <p:sp>
        <p:nvSpPr>
          <p:cNvPr id="12" name="Text 10"/>
          <p:cNvSpPr/>
          <p:nvPr/>
        </p:nvSpPr>
        <p:spPr>
          <a:xfrm>
            <a:off x="822960" y="5212080"/>
            <a:ext cx="8229600" cy="365760"/>
          </a:xfrm>
          <a:prstGeom prst="rect">
            <a:avLst/>
          </a:prstGeom>
          <a:noFill/>
          <a:ln/>
        </p:spPr>
        <p:txBody>
          <a:bodyPr wrap="square" rtlCol="0" anchor="ctr"/>
          <a:lstStyle/>
          <a:p>
            <a:pPr indent="0" marL="0">
              <a:buNone/>
            </a:pPr>
            <a:r>
              <a:rPr lang="en-US" sz="1600" b="1" dirty="0">
                <a:solidFill>
                  <a:srgbClr val="02C39A"/>
                </a:solidFill>
                <a:latin typeface="Calibri" pitchFamily="34" charset="0"/>
                <a:ea typeface="Calibri" pitchFamily="34" charset="-122"/>
                <a:cs typeface="Calibri" pitchFamily="34" charset="-120"/>
              </a:rPr>
              <a:t>Tools:  </a:t>
            </a:r>
            <a:pPr indent="0" marL="0">
              <a:buNone/>
            </a:pPr>
            <a:r>
              <a:rPr lang="en-US" sz="1600" dirty="0">
                <a:solidFill>
                  <a:srgbClr val="FFFFFF"/>
                </a:solidFill>
                <a:latin typeface="Calibri" pitchFamily="34" charset="0"/>
                <a:ea typeface="Calibri" pitchFamily="34" charset="-122"/>
                <a:cs typeface="Calibri" pitchFamily="34" charset="-120"/>
              </a:rPr>
              <a:t>C Programming Language, MySQL, Dev-C++ IDE</a:t>
            </a:r>
            <a:endParaRPr lang="en-US" sz="1600" dirty="0"/>
          </a:p>
        </p:txBody>
      </p:sp>
      <p:sp>
        <p:nvSpPr>
          <p:cNvPr id="13" name="Text 11"/>
          <p:cNvSpPr/>
          <p:nvPr/>
        </p:nvSpPr>
        <p:spPr>
          <a:xfrm>
            <a:off x="822960" y="5577840"/>
            <a:ext cx="8229600" cy="365760"/>
          </a:xfrm>
          <a:prstGeom prst="rect">
            <a:avLst/>
          </a:prstGeom>
          <a:noFill/>
          <a:ln/>
        </p:spPr>
        <p:txBody>
          <a:bodyPr wrap="square" rtlCol="0" anchor="ctr"/>
          <a:lstStyle/>
          <a:p>
            <a:pPr indent="0" marL="0">
              <a:buNone/>
            </a:pPr>
            <a:r>
              <a:rPr lang="en-US" sz="1600" b="1" dirty="0">
                <a:solidFill>
                  <a:srgbClr val="02C39A"/>
                </a:solidFill>
                <a:latin typeface="Calibri" pitchFamily="34" charset="0"/>
                <a:ea typeface="Calibri" pitchFamily="34" charset="-122"/>
                <a:cs typeface="Calibri" pitchFamily="34" charset="-120"/>
              </a:rPr>
              <a:t>Date:  </a:t>
            </a:r>
            <a:pPr indent="0" marL="0">
              <a:buNone/>
            </a:pPr>
            <a:r>
              <a:rPr lang="en-US" sz="1600" dirty="0">
                <a:solidFill>
                  <a:srgbClr val="FFFFFF"/>
                </a:solidFill>
                <a:latin typeface="Calibri" pitchFamily="34" charset="0"/>
                <a:ea typeface="Calibri" pitchFamily="34" charset="-122"/>
                <a:cs typeface="Calibri" pitchFamily="34" charset="-120"/>
              </a:rPr>
              <a:t>August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rtlCol="0" anchor="ctr"/>
          <a:lstStyle/>
          <a:p>
            <a:pPr indent="0" marL="0">
              <a:buNone/>
            </a:pPr>
            <a:r>
              <a:rPr lang="en-US" sz="1500" b="1" spc="200" kern="0" dirty="0">
                <a:solidFill>
                  <a:srgbClr val="028090"/>
                </a:solidFill>
                <a:latin typeface="Calibri" pitchFamily="34" charset="0"/>
                <a:ea typeface="Calibri" pitchFamily="34" charset="-122"/>
                <a:cs typeface="Calibri" pitchFamily="34" charset="-120"/>
              </a:rPr>
              <a:t>SECTION I</a:t>
            </a:r>
            <a:endParaRPr lang="en-US" sz="1500" dirty="0"/>
          </a:p>
        </p:txBody>
      </p:sp>
      <p:sp>
        <p:nvSpPr>
          <p:cNvPr id="3" name="Text 1"/>
          <p:cNvSpPr/>
          <p:nvPr/>
        </p:nvSpPr>
        <p:spPr>
          <a:xfrm>
            <a:off x="548640" y="685800"/>
            <a:ext cx="10972800" cy="731520"/>
          </a:xfrm>
          <a:prstGeom prst="rect">
            <a:avLst/>
          </a:prstGeom>
          <a:noFill/>
          <a:ln/>
        </p:spPr>
        <p:txBody>
          <a:bodyPr wrap="square" rtlCol="0" anchor="ctr"/>
          <a:lstStyle/>
          <a:p>
            <a:pPr indent="0" marL="0">
              <a:buNone/>
            </a:pPr>
            <a:r>
              <a:rPr lang="en-US" sz="3200" b="1" dirty="0">
                <a:solidFill>
                  <a:srgbClr val="0B2E33"/>
                </a:solidFill>
                <a:latin typeface="Cambria" pitchFamily="34" charset="0"/>
                <a:ea typeface="Cambria" pitchFamily="34" charset="-122"/>
                <a:cs typeface="Cambria" pitchFamily="34" charset="-120"/>
              </a:rPr>
              <a:t>Description of the Project</a:t>
            </a:r>
            <a:endParaRPr lang="en-US" sz="3200" dirty="0"/>
          </a:p>
        </p:txBody>
      </p:sp>
      <p:sp>
        <p:nvSpPr>
          <p:cNvPr id="4" name="Text 2"/>
          <p:cNvSpPr/>
          <p:nvPr/>
        </p:nvSpPr>
        <p:spPr>
          <a:xfrm>
            <a:off x="640080" y="1691640"/>
            <a:ext cx="6400800" cy="2377440"/>
          </a:xfrm>
          <a:prstGeom prst="rect">
            <a:avLst/>
          </a:prstGeom>
          <a:noFill/>
          <a:ln/>
        </p:spPr>
        <p:txBody>
          <a:bodyPr wrap="square" rtlCol="0" anchor="t"/>
          <a:lstStyle/>
          <a:p>
            <a:pPr indent="0" marL="0">
              <a:lnSpc>
                <a:spcPct val="125000"/>
              </a:lnSpc>
              <a:buNone/>
            </a:pPr>
            <a:r>
              <a:rPr lang="en-US" sz="1500" dirty="0">
                <a:solidFill>
                  <a:srgbClr val="222222"/>
                </a:solidFill>
                <a:latin typeface="Calibri" pitchFamily="34" charset="0"/>
                <a:ea typeface="Calibri" pitchFamily="34" charset="-122"/>
                <a:cs typeface="Calibri" pitchFamily="34" charset="-120"/>
              </a:rPr>
              <a:t>The Motherland Pharmacy Management System is a console-based application developed in the C programming language, backed by a MySQL relational database, and built/run using the Dev-C++ IDE. It computerises the daily operations of a community pharmacy — replacing manual, paper-based record keeping with a fast, centralised digital system.</a:t>
            </a:r>
            <a:endParaRPr lang="en-US" sz="1500" dirty="0"/>
          </a:p>
        </p:txBody>
      </p:sp>
      <p:sp>
        <p:nvSpPr>
          <p:cNvPr id="5" name="Text 3"/>
          <p:cNvSpPr/>
          <p:nvPr/>
        </p:nvSpPr>
        <p:spPr>
          <a:xfrm>
            <a:off x="7315200" y="1417320"/>
            <a:ext cx="4206240" cy="320040"/>
          </a:xfrm>
          <a:prstGeom prst="rect">
            <a:avLst/>
          </a:prstGeom>
          <a:noFill/>
          <a:ln/>
        </p:spPr>
        <p:txBody>
          <a:bodyPr wrap="square" rtlCol="0" anchor="ctr"/>
          <a:lstStyle/>
          <a:p>
            <a:pPr indent="0" marL="0">
              <a:buNone/>
            </a:pPr>
            <a:r>
              <a:rPr lang="en-US" sz="1300" b="1" spc="100" kern="0" dirty="0">
                <a:solidFill>
                  <a:srgbClr val="028090"/>
                </a:solidFill>
                <a:latin typeface="Calibri" pitchFamily="34" charset="0"/>
                <a:ea typeface="Calibri" pitchFamily="34" charset="-122"/>
                <a:cs typeface="Calibri" pitchFamily="34" charset="-120"/>
              </a:rPr>
              <a:t>KEY MODULES</a:t>
            </a:r>
            <a:endParaRPr lang="en-US" sz="1300" dirty="0"/>
          </a:p>
        </p:txBody>
      </p:sp>
      <p:sp>
        <p:nvSpPr>
          <p:cNvPr id="6" name="Shape 4"/>
          <p:cNvSpPr/>
          <p:nvPr/>
        </p:nvSpPr>
        <p:spPr>
          <a:xfrm>
            <a:off x="7315200" y="1783080"/>
            <a:ext cx="4251960" cy="594360"/>
          </a:xfrm>
          <a:prstGeom prst="roundRect">
            <a:avLst>
              <a:gd name="adj" fmla="val 9231"/>
            </a:avLst>
          </a:prstGeom>
          <a:solidFill>
            <a:srgbClr val="EAF6F5"/>
          </a:solidFill>
          <a:ln/>
        </p:spPr>
      </p:sp>
      <p:sp>
        <p:nvSpPr>
          <p:cNvPr id="7" name="Text 5"/>
          <p:cNvSpPr/>
          <p:nvPr/>
        </p:nvSpPr>
        <p:spPr>
          <a:xfrm>
            <a:off x="7452360" y="1837944"/>
            <a:ext cx="3931920" cy="274320"/>
          </a:xfrm>
          <a:prstGeom prst="rect">
            <a:avLst/>
          </a:prstGeom>
          <a:noFill/>
          <a:ln/>
        </p:spPr>
        <p:txBody>
          <a:bodyPr wrap="square" rtlCol="0" anchor="ctr"/>
          <a:lstStyle/>
          <a:p>
            <a:pPr indent="0" marL="0">
              <a:buNone/>
            </a:pPr>
            <a:r>
              <a:rPr lang="en-US" sz="1250" b="1" dirty="0">
                <a:solidFill>
                  <a:srgbClr val="0B2E33"/>
                </a:solidFill>
                <a:latin typeface="Consolas" pitchFamily="34" charset="0"/>
                <a:ea typeface="Consolas" pitchFamily="34" charset="-122"/>
                <a:cs typeface="Consolas" pitchFamily="34" charset="-120"/>
              </a:rPr>
              <a:t>database.c</a:t>
            </a:r>
            <a:endParaRPr lang="en-US" sz="1250" dirty="0"/>
          </a:p>
        </p:txBody>
      </p:sp>
      <p:sp>
        <p:nvSpPr>
          <p:cNvPr id="8" name="Text 6"/>
          <p:cNvSpPr/>
          <p:nvPr/>
        </p:nvSpPr>
        <p:spPr>
          <a:xfrm>
            <a:off x="7452360" y="2084832"/>
            <a:ext cx="3931920" cy="256032"/>
          </a:xfrm>
          <a:prstGeom prst="rect">
            <a:avLst/>
          </a:prstGeom>
          <a:noFill/>
          <a:ln/>
        </p:spPr>
        <p:txBody>
          <a:bodyPr wrap="square" rtlCol="0" anchor="ctr"/>
          <a:lstStyle/>
          <a:p>
            <a:pPr indent="0" marL="0">
              <a:buNone/>
            </a:pPr>
            <a:r>
              <a:rPr lang="en-US" sz="1100" dirty="0">
                <a:solidFill>
                  <a:srgbClr val="595959"/>
                </a:solidFill>
                <a:latin typeface="Calibri" pitchFamily="34" charset="0"/>
                <a:ea typeface="Calibri" pitchFamily="34" charset="-122"/>
                <a:cs typeface="Calibri" pitchFamily="34" charset="-120"/>
              </a:rPr>
              <a:t>Database connection</a:t>
            </a:r>
            <a:endParaRPr lang="en-US" sz="1100" dirty="0"/>
          </a:p>
        </p:txBody>
      </p:sp>
      <p:sp>
        <p:nvSpPr>
          <p:cNvPr id="9" name="Shape 7"/>
          <p:cNvSpPr/>
          <p:nvPr/>
        </p:nvSpPr>
        <p:spPr>
          <a:xfrm>
            <a:off x="7315200" y="2496312"/>
            <a:ext cx="4251960" cy="594360"/>
          </a:xfrm>
          <a:prstGeom prst="roundRect">
            <a:avLst>
              <a:gd name="adj" fmla="val 9231"/>
            </a:avLst>
          </a:prstGeom>
          <a:solidFill>
            <a:srgbClr val="F7FCFB"/>
          </a:solidFill>
          <a:ln/>
        </p:spPr>
      </p:sp>
      <p:sp>
        <p:nvSpPr>
          <p:cNvPr id="10" name="Text 8"/>
          <p:cNvSpPr/>
          <p:nvPr/>
        </p:nvSpPr>
        <p:spPr>
          <a:xfrm>
            <a:off x="7452360" y="2551176"/>
            <a:ext cx="3931920" cy="274320"/>
          </a:xfrm>
          <a:prstGeom prst="rect">
            <a:avLst/>
          </a:prstGeom>
          <a:noFill/>
          <a:ln/>
        </p:spPr>
        <p:txBody>
          <a:bodyPr wrap="square" rtlCol="0" anchor="ctr"/>
          <a:lstStyle/>
          <a:p>
            <a:pPr indent="0" marL="0">
              <a:buNone/>
            </a:pPr>
            <a:r>
              <a:rPr lang="en-US" sz="1250" b="1" dirty="0">
                <a:solidFill>
                  <a:srgbClr val="0B2E33"/>
                </a:solidFill>
                <a:latin typeface="Consolas" pitchFamily="34" charset="0"/>
                <a:ea typeface="Consolas" pitchFamily="34" charset="-122"/>
                <a:cs typeface="Consolas" pitchFamily="34" charset="-120"/>
              </a:rPr>
              <a:t>login.c</a:t>
            </a:r>
            <a:endParaRPr lang="en-US" sz="1250" dirty="0"/>
          </a:p>
        </p:txBody>
      </p:sp>
      <p:sp>
        <p:nvSpPr>
          <p:cNvPr id="11" name="Text 9"/>
          <p:cNvSpPr/>
          <p:nvPr/>
        </p:nvSpPr>
        <p:spPr>
          <a:xfrm>
            <a:off x="7452360" y="2798064"/>
            <a:ext cx="3931920" cy="256032"/>
          </a:xfrm>
          <a:prstGeom prst="rect">
            <a:avLst/>
          </a:prstGeom>
          <a:noFill/>
          <a:ln/>
        </p:spPr>
        <p:txBody>
          <a:bodyPr wrap="square" rtlCol="0" anchor="ctr"/>
          <a:lstStyle/>
          <a:p>
            <a:pPr indent="0" marL="0">
              <a:buNone/>
            </a:pPr>
            <a:r>
              <a:rPr lang="en-US" sz="1100" dirty="0">
                <a:solidFill>
                  <a:srgbClr val="595959"/>
                </a:solidFill>
                <a:latin typeface="Calibri" pitchFamily="34" charset="0"/>
                <a:ea typeface="Calibri" pitchFamily="34" charset="-122"/>
                <a:cs typeface="Calibri" pitchFamily="34" charset="-120"/>
              </a:rPr>
              <a:t>Authentication</a:t>
            </a:r>
            <a:endParaRPr lang="en-US" sz="1100" dirty="0"/>
          </a:p>
        </p:txBody>
      </p:sp>
      <p:sp>
        <p:nvSpPr>
          <p:cNvPr id="12" name="Shape 10"/>
          <p:cNvSpPr/>
          <p:nvPr/>
        </p:nvSpPr>
        <p:spPr>
          <a:xfrm>
            <a:off x="7315200" y="3209544"/>
            <a:ext cx="4251960" cy="594360"/>
          </a:xfrm>
          <a:prstGeom prst="roundRect">
            <a:avLst>
              <a:gd name="adj" fmla="val 9231"/>
            </a:avLst>
          </a:prstGeom>
          <a:solidFill>
            <a:srgbClr val="EAF6F5"/>
          </a:solidFill>
          <a:ln/>
        </p:spPr>
      </p:sp>
      <p:sp>
        <p:nvSpPr>
          <p:cNvPr id="13" name="Text 11"/>
          <p:cNvSpPr/>
          <p:nvPr/>
        </p:nvSpPr>
        <p:spPr>
          <a:xfrm>
            <a:off x="7452360" y="3264408"/>
            <a:ext cx="3931920" cy="274320"/>
          </a:xfrm>
          <a:prstGeom prst="rect">
            <a:avLst/>
          </a:prstGeom>
          <a:noFill/>
          <a:ln/>
        </p:spPr>
        <p:txBody>
          <a:bodyPr wrap="square" rtlCol="0" anchor="ctr"/>
          <a:lstStyle/>
          <a:p>
            <a:pPr indent="0" marL="0">
              <a:buNone/>
            </a:pPr>
            <a:r>
              <a:rPr lang="en-US" sz="1250" b="1" dirty="0">
                <a:solidFill>
                  <a:srgbClr val="0B2E33"/>
                </a:solidFill>
                <a:latin typeface="Consolas" pitchFamily="34" charset="0"/>
                <a:ea typeface="Consolas" pitchFamily="34" charset="-122"/>
                <a:cs typeface="Consolas" pitchFamily="34" charset="-120"/>
              </a:rPr>
              <a:t>medicine.c</a:t>
            </a:r>
            <a:endParaRPr lang="en-US" sz="1250" dirty="0"/>
          </a:p>
        </p:txBody>
      </p:sp>
      <p:sp>
        <p:nvSpPr>
          <p:cNvPr id="14" name="Text 12"/>
          <p:cNvSpPr/>
          <p:nvPr/>
        </p:nvSpPr>
        <p:spPr>
          <a:xfrm>
            <a:off x="7452360" y="3511296"/>
            <a:ext cx="3931920" cy="256032"/>
          </a:xfrm>
          <a:prstGeom prst="rect">
            <a:avLst/>
          </a:prstGeom>
          <a:noFill/>
          <a:ln/>
        </p:spPr>
        <p:txBody>
          <a:bodyPr wrap="square" rtlCol="0" anchor="ctr"/>
          <a:lstStyle/>
          <a:p>
            <a:pPr indent="0" marL="0">
              <a:buNone/>
            </a:pPr>
            <a:r>
              <a:rPr lang="en-US" sz="1100" dirty="0">
                <a:solidFill>
                  <a:srgbClr val="595959"/>
                </a:solidFill>
                <a:latin typeface="Calibri" pitchFamily="34" charset="0"/>
                <a:ea typeface="Calibri" pitchFamily="34" charset="-122"/>
                <a:cs typeface="Calibri" pitchFamily="34" charset="-120"/>
              </a:rPr>
              <a:t>Inventory management</a:t>
            </a:r>
            <a:endParaRPr lang="en-US" sz="1100" dirty="0"/>
          </a:p>
        </p:txBody>
      </p:sp>
      <p:sp>
        <p:nvSpPr>
          <p:cNvPr id="15" name="Shape 13"/>
          <p:cNvSpPr/>
          <p:nvPr/>
        </p:nvSpPr>
        <p:spPr>
          <a:xfrm>
            <a:off x="7315200" y="3922776"/>
            <a:ext cx="4251960" cy="594360"/>
          </a:xfrm>
          <a:prstGeom prst="roundRect">
            <a:avLst>
              <a:gd name="adj" fmla="val 9231"/>
            </a:avLst>
          </a:prstGeom>
          <a:solidFill>
            <a:srgbClr val="F7FCFB"/>
          </a:solidFill>
          <a:ln/>
        </p:spPr>
      </p:sp>
      <p:sp>
        <p:nvSpPr>
          <p:cNvPr id="16" name="Text 14"/>
          <p:cNvSpPr/>
          <p:nvPr/>
        </p:nvSpPr>
        <p:spPr>
          <a:xfrm>
            <a:off x="7452360" y="3977640"/>
            <a:ext cx="3931920" cy="274320"/>
          </a:xfrm>
          <a:prstGeom prst="rect">
            <a:avLst/>
          </a:prstGeom>
          <a:noFill/>
          <a:ln/>
        </p:spPr>
        <p:txBody>
          <a:bodyPr wrap="square" rtlCol="0" anchor="ctr"/>
          <a:lstStyle/>
          <a:p>
            <a:pPr indent="0" marL="0">
              <a:buNone/>
            </a:pPr>
            <a:r>
              <a:rPr lang="en-US" sz="1250" b="1" dirty="0">
                <a:solidFill>
                  <a:srgbClr val="0B2E33"/>
                </a:solidFill>
                <a:latin typeface="Consolas" pitchFamily="34" charset="0"/>
                <a:ea typeface="Consolas" pitchFamily="34" charset="-122"/>
                <a:cs typeface="Consolas" pitchFamily="34" charset="-120"/>
              </a:rPr>
              <a:t>sale.c</a:t>
            </a:r>
            <a:endParaRPr lang="en-US" sz="1250" dirty="0"/>
          </a:p>
        </p:txBody>
      </p:sp>
      <p:sp>
        <p:nvSpPr>
          <p:cNvPr id="17" name="Text 15"/>
          <p:cNvSpPr/>
          <p:nvPr/>
        </p:nvSpPr>
        <p:spPr>
          <a:xfrm>
            <a:off x="7452360" y="4224528"/>
            <a:ext cx="3931920" cy="256032"/>
          </a:xfrm>
          <a:prstGeom prst="rect">
            <a:avLst/>
          </a:prstGeom>
          <a:noFill/>
          <a:ln/>
        </p:spPr>
        <p:txBody>
          <a:bodyPr wrap="square" rtlCol="0" anchor="ctr"/>
          <a:lstStyle/>
          <a:p>
            <a:pPr indent="0" marL="0">
              <a:buNone/>
            </a:pPr>
            <a:r>
              <a:rPr lang="en-US" sz="1100" dirty="0">
                <a:solidFill>
                  <a:srgbClr val="595959"/>
                </a:solidFill>
                <a:latin typeface="Calibri" pitchFamily="34" charset="0"/>
                <a:ea typeface="Calibri" pitchFamily="34" charset="-122"/>
                <a:cs typeface="Calibri" pitchFamily="34" charset="-120"/>
              </a:rPr>
              <a:t>Sales transactions</a:t>
            </a:r>
            <a:endParaRPr lang="en-US" sz="1100" dirty="0"/>
          </a:p>
        </p:txBody>
      </p:sp>
      <p:sp>
        <p:nvSpPr>
          <p:cNvPr id="18" name="Shape 16"/>
          <p:cNvSpPr/>
          <p:nvPr/>
        </p:nvSpPr>
        <p:spPr>
          <a:xfrm>
            <a:off x="7315200" y="4636008"/>
            <a:ext cx="4251960" cy="594360"/>
          </a:xfrm>
          <a:prstGeom prst="roundRect">
            <a:avLst>
              <a:gd name="adj" fmla="val 9231"/>
            </a:avLst>
          </a:prstGeom>
          <a:solidFill>
            <a:srgbClr val="EAF6F5"/>
          </a:solidFill>
          <a:ln/>
        </p:spPr>
      </p:sp>
      <p:sp>
        <p:nvSpPr>
          <p:cNvPr id="19" name="Text 17"/>
          <p:cNvSpPr/>
          <p:nvPr/>
        </p:nvSpPr>
        <p:spPr>
          <a:xfrm>
            <a:off x="7452360" y="4690872"/>
            <a:ext cx="3931920" cy="274320"/>
          </a:xfrm>
          <a:prstGeom prst="rect">
            <a:avLst/>
          </a:prstGeom>
          <a:noFill/>
          <a:ln/>
        </p:spPr>
        <p:txBody>
          <a:bodyPr wrap="square" rtlCol="0" anchor="ctr"/>
          <a:lstStyle/>
          <a:p>
            <a:pPr indent="0" marL="0">
              <a:buNone/>
            </a:pPr>
            <a:r>
              <a:rPr lang="en-US" sz="1250" b="1" dirty="0">
                <a:solidFill>
                  <a:srgbClr val="0B2E33"/>
                </a:solidFill>
                <a:latin typeface="Consolas" pitchFamily="34" charset="0"/>
                <a:ea typeface="Consolas" pitchFamily="34" charset="-122"/>
                <a:cs typeface="Consolas" pitchFamily="34" charset="-120"/>
              </a:rPr>
              <a:t>supplier.c / customer.c</a:t>
            </a:r>
            <a:endParaRPr lang="en-US" sz="1250" dirty="0"/>
          </a:p>
        </p:txBody>
      </p:sp>
      <p:sp>
        <p:nvSpPr>
          <p:cNvPr id="20" name="Text 18"/>
          <p:cNvSpPr/>
          <p:nvPr/>
        </p:nvSpPr>
        <p:spPr>
          <a:xfrm>
            <a:off x="7452360" y="4937760"/>
            <a:ext cx="3931920" cy="256032"/>
          </a:xfrm>
          <a:prstGeom prst="rect">
            <a:avLst/>
          </a:prstGeom>
          <a:noFill/>
          <a:ln/>
        </p:spPr>
        <p:txBody>
          <a:bodyPr wrap="square" rtlCol="0" anchor="ctr"/>
          <a:lstStyle/>
          <a:p>
            <a:pPr indent="0" marL="0">
              <a:buNone/>
            </a:pPr>
            <a:r>
              <a:rPr lang="en-US" sz="1100" dirty="0">
                <a:solidFill>
                  <a:srgbClr val="595959"/>
                </a:solidFill>
                <a:latin typeface="Calibri" pitchFamily="34" charset="0"/>
                <a:ea typeface="Calibri" pitchFamily="34" charset="-122"/>
                <a:cs typeface="Calibri" pitchFamily="34" charset="-120"/>
              </a:rPr>
              <a:t>Partner records</a:t>
            </a:r>
            <a:endParaRPr lang="en-US" sz="1100" dirty="0"/>
          </a:p>
        </p:txBody>
      </p:sp>
      <p:sp>
        <p:nvSpPr>
          <p:cNvPr id="21" name="Shape 19"/>
          <p:cNvSpPr/>
          <p:nvPr/>
        </p:nvSpPr>
        <p:spPr>
          <a:xfrm>
            <a:off x="7315200" y="5349240"/>
            <a:ext cx="4251960" cy="594360"/>
          </a:xfrm>
          <a:prstGeom prst="roundRect">
            <a:avLst>
              <a:gd name="adj" fmla="val 9231"/>
            </a:avLst>
          </a:prstGeom>
          <a:solidFill>
            <a:srgbClr val="F7FCFB"/>
          </a:solidFill>
          <a:ln/>
        </p:spPr>
      </p:sp>
      <p:sp>
        <p:nvSpPr>
          <p:cNvPr id="22" name="Text 20"/>
          <p:cNvSpPr/>
          <p:nvPr/>
        </p:nvSpPr>
        <p:spPr>
          <a:xfrm>
            <a:off x="7452360" y="5404104"/>
            <a:ext cx="3931920" cy="274320"/>
          </a:xfrm>
          <a:prstGeom prst="rect">
            <a:avLst/>
          </a:prstGeom>
          <a:noFill/>
          <a:ln/>
        </p:spPr>
        <p:txBody>
          <a:bodyPr wrap="square" rtlCol="0" anchor="ctr"/>
          <a:lstStyle/>
          <a:p>
            <a:pPr indent="0" marL="0">
              <a:buNone/>
            </a:pPr>
            <a:r>
              <a:rPr lang="en-US" sz="1250" b="1" dirty="0">
                <a:solidFill>
                  <a:srgbClr val="0B2E33"/>
                </a:solidFill>
                <a:latin typeface="Consolas" pitchFamily="34" charset="0"/>
                <a:ea typeface="Consolas" pitchFamily="34" charset="-122"/>
                <a:cs typeface="Consolas" pitchFamily="34" charset="-120"/>
              </a:rPr>
              <a:t>report.c</a:t>
            </a:r>
            <a:endParaRPr lang="en-US" sz="1250" dirty="0"/>
          </a:p>
        </p:txBody>
      </p:sp>
      <p:sp>
        <p:nvSpPr>
          <p:cNvPr id="23" name="Text 21"/>
          <p:cNvSpPr/>
          <p:nvPr/>
        </p:nvSpPr>
        <p:spPr>
          <a:xfrm>
            <a:off x="7452360" y="5650992"/>
            <a:ext cx="3931920" cy="256032"/>
          </a:xfrm>
          <a:prstGeom prst="rect">
            <a:avLst/>
          </a:prstGeom>
          <a:noFill/>
          <a:ln/>
        </p:spPr>
        <p:txBody>
          <a:bodyPr wrap="square" rtlCol="0" anchor="ctr"/>
          <a:lstStyle/>
          <a:p>
            <a:pPr indent="0" marL="0">
              <a:buNone/>
            </a:pPr>
            <a:r>
              <a:rPr lang="en-US" sz="1100" dirty="0">
                <a:solidFill>
                  <a:srgbClr val="595959"/>
                </a:solidFill>
                <a:latin typeface="Calibri" pitchFamily="34" charset="0"/>
                <a:ea typeface="Calibri" pitchFamily="34" charset="-122"/>
                <a:cs typeface="Calibri" pitchFamily="34" charset="-120"/>
              </a:rPr>
              <a:t>Business reports</a:t>
            </a:r>
            <a:endParaRPr lang="en-US" sz="1100" dirty="0"/>
          </a:p>
        </p:txBody>
      </p:sp>
      <p:sp>
        <p:nvSpPr>
          <p:cNvPr id="24" name="Text 22"/>
          <p:cNvSpPr/>
          <p:nvPr/>
        </p:nvSpPr>
        <p:spPr>
          <a:xfrm>
            <a:off x="640080" y="4297680"/>
            <a:ext cx="6400800" cy="1463040"/>
          </a:xfrm>
          <a:prstGeom prst="rect">
            <a:avLst/>
          </a:prstGeom>
          <a:noFill/>
          <a:ln/>
        </p:spPr>
        <p:txBody>
          <a:bodyPr wrap="square" rtlCol="0" anchor="t"/>
          <a:lstStyle/>
          <a:p>
            <a:pPr indent="0" marL="0">
              <a:lnSpc>
                <a:spcPct val="120000"/>
              </a:lnSpc>
              <a:buNone/>
            </a:pPr>
            <a:r>
              <a:rPr lang="en-US" sz="1400" i="1" dirty="0">
                <a:solidFill>
                  <a:srgbClr val="595959"/>
                </a:solidFill>
                <a:latin typeface="Calibri" pitchFamily="34" charset="0"/>
                <a:ea typeface="Calibri" pitchFamily="34" charset="-122"/>
                <a:cs typeface="Calibri" pitchFamily="34" charset="-120"/>
              </a:rPr>
              <a:t>All business logic is organised into independent modules, with a shared ui.c helper centralising console formatting, prompts and input validation for a consistent professional look throughout every menu.</a:t>
            </a:r>
            <a:endParaRPr lang="en-US" sz="1400" dirty="0"/>
          </a:p>
        </p:txBody>
      </p:sp>
      <p:sp>
        <p:nvSpPr>
          <p:cNvPr id="25" name="Text 23"/>
          <p:cNvSpPr/>
          <p:nvPr/>
        </p:nvSpPr>
        <p:spPr>
          <a:xfrm>
            <a:off x="457200" y="6537960"/>
            <a:ext cx="7315200" cy="274320"/>
          </a:xfrm>
          <a:prstGeom prst="rect">
            <a:avLst/>
          </a:prstGeom>
          <a:noFill/>
          <a:ln/>
        </p:spPr>
        <p:txBody>
          <a:bodyPr wrap="square" rtlCol="0" anchor="ctr"/>
          <a:lstStyle/>
          <a:p>
            <a:pPr algn="l" indent="0" marL="0">
              <a:buNone/>
            </a:pPr>
            <a:r>
              <a:rPr lang="en-US" sz="1000" dirty="0">
                <a:solidFill>
                  <a:srgbClr val="595959"/>
                </a:solidFill>
                <a:latin typeface="Calibri" pitchFamily="34" charset="0"/>
                <a:ea typeface="Calibri" pitchFamily="34" charset="-122"/>
                <a:cs typeface="Calibri" pitchFamily="34" charset="-120"/>
              </a:rPr>
              <a:t>Motherland Pharmacy Management System</a:t>
            </a:r>
            <a:endParaRPr lang="en-US" sz="1000" dirty="0"/>
          </a:p>
        </p:txBody>
      </p:sp>
      <p:sp>
        <p:nvSpPr>
          <p:cNvPr id="26" name="Text 24"/>
          <p:cNvSpPr/>
          <p:nvPr/>
        </p:nvSpPr>
        <p:spPr>
          <a:xfrm>
            <a:off x="11521440" y="6537960"/>
            <a:ext cx="45720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rtlCol="0" anchor="ctr"/>
          <a:lstStyle/>
          <a:p>
            <a:pPr indent="0" marL="0">
              <a:buNone/>
            </a:pPr>
            <a:r>
              <a:rPr lang="en-US" sz="1500" b="1" spc="200" kern="0" dirty="0">
                <a:solidFill>
                  <a:srgbClr val="028090"/>
                </a:solidFill>
                <a:latin typeface="Calibri" pitchFamily="34" charset="0"/>
                <a:ea typeface="Calibri" pitchFamily="34" charset="-122"/>
                <a:cs typeface="Calibri" pitchFamily="34" charset="-120"/>
              </a:rPr>
              <a:t>SECTION II</a:t>
            </a:r>
            <a:endParaRPr lang="en-US" sz="1500" dirty="0"/>
          </a:p>
        </p:txBody>
      </p:sp>
      <p:sp>
        <p:nvSpPr>
          <p:cNvPr id="3" name="Text 1"/>
          <p:cNvSpPr/>
          <p:nvPr/>
        </p:nvSpPr>
        <p:spPr>
          <a:xfrm>
            <a:off x="548640" y="685800"/>
            <a:ext cx="10972800" cy="731520"/>
          </a:xfrm>
          <a:prstGeom prst="rect">
            <a:avLst/>
          </a:prstGeom>
          <a:noFill/>
          <a:ln/>
        </p:spPr>
        <p:txBody>
          <a:bodyPr wrap="square" rtlCol="0" anchor="ctr"/>
          <a:lstStyle/>
          <a:p>
            <a:pPr indent="0" marL="0">
              <a:buNone/>
            </a:pPr>
            <a:r>
              <a:rPr lang="en-US" sz="3200" b="1" dirty="0">
                <a:solidFill>
                  <a:srgbClr val="0B2E33"/>
                </a:solidFill>
                <a:latin typeface="Cambria" pitchFamily="34" charset="0"/>
                <a:ea typeface="Cambria" pitchFamily="34" charset="-122"/>
                <a:cs typeface="Cambria" pitchFamily="34" charset="-120"/>
              </a:rPr>
              <a:t>Problem Statement</a:t>
            </a:r>
            <a:endParaRPr lang="en-US" sz="3200" dirty="0"/>
          </a:p>
        </p:txBody>
      </p:sp>
      <p:sp>
        <p:nvSpPr>
          <p:cNvPr id="4" name="Shape 2"/>
          <p:cNvSpPr/>
          <p:nvPr/>
        </p:nvSpPr>
        <p:spPr>
          <a:xfrm>
            <a:off x="640080" y="1691640"/>
            <a:ext cx="5212080" cy="4480560"/>
          </a:xfrm>
          <a:prstGeom prst="roundRect">
            <a:avLst>
              <a:gd name="adj" fmla="val 1633"/>
            </a:avLst>
          </a:prstGeom>
          <a:solidFill>
            <a:srgbClr val="FFF3E8"/>
          </a:solidFill>
          <a:ln/>
        </p:spPr>
      </p:sp>
      <p:sp>
        <p:nvSpPr>
          <p:cNvPr id="5" name="Text 3"/>
          <p:cNvSpPr/>
          <p:nvPr/>
        </p:nvSpPr>
        <p:spPr>
          <a:xfrm>
            <a:off x="914400" y="1874520"/>
            <a:ext cx="4754880" cy="365760"/>
          </a:xfrm>
          <a:prstGeom prst="rect">
            <a:avLst/>
          </a:prstGeom>
          <a:noFill/>
          <a:ln/>
        </p:spPr>
        <p:txBody>
          <a:bodyPr wrap="square" rtlCol="0" anchor="ctr"/>
          <a:lstStyle/>
          <a:p>
            <a:pPr indent="0" marL="0">
              <a:buNone/>
            </a:pPr>
            <a:r>
              <a:rPr lang="en-US" sz="1300" b="1" dirty="0">
                <a:solidFill>
                  <a:srgbClr val="F4A259"/>
                </a:solidFill>
                <a:latin typeface="Calibri" pitchFamily="34" charset="0"/>
                <a:ea typeface="Calibri" pitchFamily="34" charset="-122"/>
                <a:cs typeface="Calibri" pitchFamily="34" charset="-120"/>
              </a:rPr>
              <a:t>CHALLENGES AT MOTHERLAND PHARMACY</a:t>
            </a:r>
            <a:endParaRPr lang="en-US" sz="1300" dirty="0"/>
          </a:p>
        </p:txBody>
      </p:sp>
      <p:sp>
        <p:nvSpPr>
          <p:cNvPr id="6" name="Text 4"/>
          <p:cNvSpPr/>
          <p:nvPr/>
        </p:nvSpPr>
        <p:spPr>
          <a:xfrm>
            <a:off x="914400" y="2331720"/>
            <a:ext cx="4663440" cy="3657600"/>
          </a:xfrm>
          <a:prstGeom prst="rect">
            <a:avLst/>
          </a:prstGeom>
          <a:noFill/>
          <a:ln/>
        </p:spPr>
        <p:txBody>
          <a:bodyPr wrap="square" rtlCol="0" anchor="t"/>
          <a:lstStyle/>
          <a:p>
            <a:pPr marL="228600" indent="-228600">
              <a:spcAft>
                <a:spcPts val="1400"/>
              </a:spcAft>
              <a:buSzPct val="100000"/>
              <a:buChar char="●"/>
            </a:pPr>
            <a:r>
              <a:rPr lang="en-US" sz="1350" dirty="0">
                <a:solidFill>
                  <a:srgbClr val="3A2A1A"/>
                </a:solidFill>
                <a:latin typeface="Calibri" pitchFamily="34" charset="0"/>
                <a:ea typeface="Calibri" pitchFamily="34" charset="-122"/>
                <a:cs typeface="Calibri" pitchFamily="34" charset="-120"/>
              </a:rPr>
              <a:t>Manual, paper-based stock and sales records are slow and error-prone</a:t>
            </a:r>
            <a:endParaRPr lang="en-US" sz="1350" dirty="0"/>
          </a:p>
          <a:p>
            <a:pPr marL="228600" indent="-228600">
              <a:spcAft>
                <a:spcPts val="1400"/>
              </a:spcAft>
              <a:buSzPct val="100000"/>
              <a:buChar char="●"/>
            </a:pPr>
            <a:r>
              <a:rPr lang="en-US" sz="1350" dirty="0">
                <a:solidFill>
                  <a:srgbClr val="3A2A1A"/>
                </a:solidFill>
                <a:latin typeface="Calibri" pitchFamily="34" charset="0"/>
                <a:ea typeface="Calibri" pitchFamily="34" charset="-122"/>
                <a:cs typeface="Calibri" pitchFamily="34" charset="-120"/>
              </a:rPr>
              <a:t>Difficult to track medicines nearing expiry before they are sold</a:t>
            </a:r>
            <a:endParaRPr lang="en-US" sz="1350" dirty="0"/>
          </a:p>
          <a:p>
            <a:pPr marL="228600" indent="-228600">
              <a:spcAft>
                <a:spcPts val="1400"/>
              </a:spcAft>
              <a:buSzPct val="100000"/>
              <a:buChar char="●"/>
            </a:pPr>
            <a:r>
              <a:rPr lang="en-US" sz="1350" dirty="0">
                <a:solidFill>
                  <a:srgbClr val="3A2A1A"/>
                </a:solidFill>
                <a:latin typeface="Calibri" pitchFamily="34" charset="0"/>
                <a:ea typeface="Calibri" pitchFamily="34" charset="-122"/>
                <a:cs typeface="Calibri" pitchFamily="34" charset="-120"/>
              </a:rPr>
              <a:t>No reliable way to detect low stock before items run out</a:t>
            </a:r>
            <a:endParaRPr lang="en-US" sz="1350" dirty="0"/>
          </a:p>
          <a:p>
            <a:pPr marL="228600" indent="-228600">
              <a:spcAft>
                <a:spcPts val="1400"/>
              </a:spcAft>
              <a:buSzPct val="100000"/>
              <a:buChar char="●"/>
            </a:pPr>
            <a:r>
              <a:rPr lang="en-US" sz="1350" dirty="0">
                <a:solidFill>
                  <a:srgbClr val="3A2A1A"/>
                </a:solidFill>
                <a:latin typeface="Calibri" pitchFamily="34" charset="0"/>
                <a:ea typeface="Calibri" pitchFamily="34" charset="-122"/>
                <a:cs typeface="Calibri" pitchFamily="34" charset="-120"/>
              </a:rPr>
              <a:t>Sales, customer and supplier data are scattered and hard to audit</a:t>
            </a:r>
            <a:endParaRPr lang="en-US" sz="1350" dirty="0"/>
          </a:p>
          <a:p>
            <a:pPr marL="228600" indent="-228600">
              <a:spcAft>
                <a:spcPts val="1400"/>
              </a:spcAft>
              <a:buSzPct val="100000"/>
              <a:buChar char="●"/>
            </a:pPr>
            <a:r>
              <a:rPr lang="en-US" sz="1350" dirty="0">
                <a:solidFill>
                  <a:srgbClr val="3A2A1A"/>
                </a:solidFill>
                <a:latin typeface="Calibri" pitchFamily="34" charset="0"/>
                <a:ea typeface="Calibri" pitchFamily="34" charset="-122"/>
                <a:cs typeface="Calibri" pitchFamily="34" charset="-120"/>
              </a:rPr>
              <a:t>No real-time reports to support fast, accurate business decisions</a:t>
            </a:r>
            <a:endParaRPr lang="en-US" sz="1350" dirty="0"/>
          </a:p>
        </p:txBody>
      </p:sp>
      <p:sp>
        <p:nvSpPr>
          <p:cNvPr id="7" name="Shape 5"/>
          <p:cNvSpPr/>
          <p:nvPr/>
        </p:nvSpPr>
        <p:spPr>
          <a:xfrm>
            <a:off x="6126480" y="1691640"/>
            <a:ext cx="5440680" cy="4480560"/>
          </a:xfrm>
          <a:prstGeom prst="roundRect">
            <a:avLst>
              <a:gd name="adj" fmla="val 1633"/>
            </a:avLst>
          </a:prstGeom>
          <a:solidFill>
            <a:srgbClr val="EAF6F5"/>
          </a:solidFill>
          <a:ln/>
        </p:spPr>
      </p:sp>
      <p:sp>
        <p:nvSpPr>
          <p:cNvPr id="8" name="Text 6"/>
          <p:cNvSpPr/>
          <p:nvPr/>
        </p:nvSpPr>
        <p:spPr>
          <a:xfrm>
            <a:off x="6400800" y="1874520"/>
            <a:ext cx="4937760" cy="365760"/>
          </a:xfrm>
          <a:prstGeom prst="rect">
            <a:avLst/>
          </a:prstGeom>
          <a:noFill/>
          <a:ln/>
        </p:spPr>
        <p:txBody>
          <a:bodyPr wrap="square" rtlCol="0" anchor="ctr"/>
          <a:lstStyle/>
          <a:p>
            <a:pPr indent="0" marL="0">
              <a:buNone/>
            </a:pPr>
            <a:r>
              <a:rPr lang="en-US" sz="1300" b="1" dirty="0">
                <a:solidFill>
                  <a:srgbClr val="028090"/>
                </a:solidFill>
                <a:latin typeface="Calibri" pitchFamily="34" charset="0"/>
                <a:ea typeface="Calibri" pitchFamily="34" charset="-122"/>
                <a:cs typeface="Calibri" pitchFamily="34" charset="-120"/>
              </a:rPr>
              <a:t>HOW THE SYSTEM RESPONDS</a:t>
            </a:r>
            <a:endParaRPr lang="en-US" sz="1300" dirty="0"/>
          </a:p>
        </p:txBody>
      </p:sp>
      <p:sp>
        <p:nvSpPr>
          <p:cNvPr id="9" name="Text 7"/>
          <p:cNvSpPr/>
          <p:nvPr/>
        </p:nvSpPr>
        <p:spPr>
          <a:xfrm>
            <a:off x="6400800" y="2377440"/>
            <a:ext cx="4937760" cy="3566160"/>
          </a:xfrm>
          <a:prstGeom prst="rect">
            <a:avLst/>
          </a:prstGeom>
          <a:noFill/>
          <a:ln/>
        </p:spPr>
        <p:txBody>
          <a:bodyPr wrap="square" rtlCol="0" anchor="t"/>
          <a:lstStyle/>
          <a:p>
            <a:pPr indent="0" marL="0">
              <a:lnSpc>
                <a:spcPct val="130000"/>
              </a:lnSpc>
              <a:buNone/>
            </a:pPr>
            <a:r>
              <a:rPr lang="en-US" sz="1400" dirty="0">
                <a:solidFill>
                  <a:srgbClr val="0B2E33"/>
                </a:solidFill>
                <a:latin typeface="Calibri" pitchFamily="34" charset="0"/>
                <a:ea typeface="Calibri" pitchFamily="34" charset="-122"/>
                <a:cs typeface="Calibri" pitchFamily="34" charset="-120"/>
              </a:rPr>
              <a:t>The Motherland Pharmacy Management System was developed to directly solve these problems: it provides a single, database-driven application that automates inventory control, blocks the sale of expired medicine, records every transaction with full traceability, and instantly generates the operational reports management needs to make informed, timely decisions.</a:t>
            </a:r>
            <a:endParaRPr lang="en-US" sz="1400" dirty="0"/>
          </a:p>
        </p:txBody>
      </p:sp>
      <p:sp>
        <p:nvSpPr>
          <p:cNvPr id="10" name="Text 8"/>
          <p:cNvSpPr/>
          <p:nvPr/>
        </p:nvSpPr>
        <p:spPr>
          <a:xfrm>
            <a:off x="457200" y="6537960"/>
            <a:ext cx="7315200" cy="274320"/>
          </a:xfrm>
          <a:prstGeom prst="rect">
            <a:avLst/>
          </a:prstGeom>
          <a:noFill/>
          <a:ln/>
        </p:spPr>
        <p:txBody>
          <a:bodyPr wrap="square" rtlCol="0" anchor="ctr"/>
          <a:lstStyle/>
          <a:p>
            <a:pPr algn="l" indent="0" marL="0">
              <a:buNone/>
            </a:pPr>
            <a:r>
              <a:rPr lang="en-US" sz="1000" dirty="0">
                <a:solidFill>
                  <a:srgbClr val="595959"/>
                </a:solidFill>
                <a:latin typeface="Calibri" pitchFamily="34" charset="0"/>
                <a:ea typeface="Calibri" pitchFamily="34" charset="-122"/>
                <a:cs typeface="Calibri" pitchFamily="34" charset="-120"/>
              </a:rPr>
              <a:t>Motherland Pharmacy Management System</a:t>
            </a:r>
            <a:endParaRPr lang="en-US" sz="1000" dirty="0"/>
          </a:p>
        </p:txBody>
      </p:sp>
      <p:sp>
        <p:nvSpPr>
          <p:cNvPr id="11" name="Text 9"/>
          <p:cNvSpPr/>
          <p:nvPr/>
        </p:nvSpPr>
        <p:spPr>
          <a:xfrm>
            <a:off x="11521440" y="6537960"/>
            <a:ext cx="45720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rtlCol="0" anchor="ctr"/>
          <a:lstStyle/>
          <a:p>
            <a:pPr indent="0" marL="0">
              <a:buNone/>
            </a:pPr>
            <a:r>
              <a:rPr lang="en-US" sz="1500" b="1" spc="200" kern="0" dirty="0">
                <a:solidFill>
                  <a:srgbClr val="028090"/>
                </a:solidFill>
                <a:latin typeface="Calibri" pitchFamily="34" charset="0"/>
                <a:ea typeface="Calibri" pitchFamily="34" charset="-122"/>
                <a:cs typeface="Calibri" pitchFamily="34" charset="-120"/>
              </a:rPr>
              <a:t>SECTION III</a:t>
            </a:r>
            <a:endParaRPr lang="en-US" sz="1500" dirty="0"/>
          </a:p>
        </p:txBody>
      </p:sp>
      <p:sp>
        <p:nvSpPr>
          <p:cNvPr id="3" name="Text 1"/>
          <p:cNvSpPr/>
          <p:nvPr/>
        </p:nvSpPr>
        <p:spPr>
          <a:xfrm>
            <a:off x="548640" y="685800"/>
            <a:ext cx="10972800" cy="731520"/>
          </a:xfrm>
          <a:prstGeom prst="rect">
            <a:avLst/>
          </a:prstGeom>
          <a:noFill/>
          <a:ln/>
        </p:spPr>
        <p:txBody>
          <a:bodyPr wrap="square" rtlCol="0" anchor="ctr"/>
          <a:lstStyle/>
          <a:p>
            <a:pPr indent="0" marL="0">
              <a:buNone/>
            </a:pPr>
            <a:r>
              <a:rPr lang="en-US" sz="3200" b="1" dirty="0">
                <a:solidFill>
                  <a:srgbClr val="0B2E33"/>
                </a:solidFill>
                <a:latin typeface="Cambria" pitchFamily="34" charset="0"/>
                <a:ea typeface="Cambria" pitchFamily="34" charset="-122"/>
                <a:cs typeface="Cambria" pitchFamily="34" charset="-120"/>
              </a:rPr>
              <a:t>Objectives</a:t>
            </a:r>
            <a:endParaRPr lang="en-US" sz="3200" dirty="0"/>
          </a:p>
        </p:txBody>
      </p:sp>
      <p:sp>
        <p:nvSpPr>
          <p:cNvPr id="4" name="Shape 2"/>
          <p:cNvSpPr/>
          <p:nvPr/>
        </p:nvSpPr>
        <p:spPr>
          <a:xfrm>
            <a:off x="640080" y="1691640"/>
            <a:ext cx="10927080" cy="1051560"/>
          </a:xfrm>
          <a:prstGeom prst="roundRect">
            <a:avLst>
              <a:gd name="adj" fmla="val 6957"/>
            </a:avLst>
          </a:prstGeom>
          <a:solidFill>
            <a:srgbClr val="028090"/>
          </a:solidFill>
          <a:ln/>
        </p:spPr>
      </p:sp>
      <p:sp>
        <p:nvSpPr>
          <p:cNvPr id="5" name="Text 3"/>
          <p:cNvSpPr/>
          <p:nvPr/>
        </p:nvSpPr>
        <p:spPr>
          <a:xfrm>
            <a:off x="914400" y="1783080"/>
            <a:ext cx="3657600" cy="274320"/>
          </a:xfrm>
          <a:prstGeom prst="rect">
            <a:avLst/>
          </a:prstGeom>
          <a:noFill/>
          <a:ln/>
        </p:spPr>
        <p:txBody>
          <a:bodyPr wrap="square" rtlCol="0" anchor="ctr"/>
          <a:lstStyle/>
          <a:p>
            <a:pPr indent="0" marL="0">
              <a:buNone/>
            </a:pPr>
            <a:r>
              <a:rPr lang="en-US" sz="1200" b="1" dirty="0">
                <a:solidFill>
                  <a:srgbClr val="02C39A"/>
                </a:solidFill>
                <a:latin typeface="Calibri" pitchFamily="34" charset="0"/>
                <a:ea typeface="Calibri" pitchFamily="34" charset="-122"/>
                <a:cs typeface="Calibri" pitchFamily="34" charset="-120"/>
              </a:rPr>
              <a:t>GENERAL OBJECTIVE</a:t>
            </a:r>
            <a:endParaRPr lang="en-US" sz="1200" dirty="0"/>
          </a:p>
        </p:txBody>
      </p:sp>
      <p:sp>
        <p:nvSpPr>
          <p:cNvPr id="6" name="Text 4"/>
          <p:cNvSpPr/>
          <p:nvPr/>
        </p:nvSpPr>
        <p:spPr>
          <a:xfrm>
            <a:off x="914400" y="2057400"/>
            <a:ext cx="10424160" cy="64008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To design and implement a console-based Pharmacy Management System using C and MySQL that automates inventory control, sales processing, and reporting for Motherland Pharmacy.</a:t>
            </a:r>
            <a:endParaRPr lang="en-US" sz="1400" dirty="0"/>
          </a:p>
        </p:txBody>
      </p:sp>
      <p:sp>
        <p:nvSpPr>
          <p:cNvPr id="7" name="Text 5"/>
          <p:cNvSpPr/>
          <p:nvPr/>
        </p:nvSpPr>
        <p:spPr>
          <a:xfrm>
            <a:off x="640080" y="2971800"/>
            <a:ext cx="5486400" cy="320040"/>
          </a:xfrm>
          <a:prstGeom prst="rect">
            <a:avLst/>
          </a:prstGeom>
          <a:noFill/>
          <a:ln/>
        </p:spPr>
        <p:txBody>
          <a:bodyPr wrap="square" rtlCol="0" anchor="ctr"/>
          <a:lstStyle/>
          <a:p>
            <a:pPr indent="0" marL="0">
              <a:buNone/>
            </a:pPr>
            <a:r>
              <a:rPr lang="en-US" sz="1300" b="1" spc="100" kern="0" dirty="0">
                <a:solidFill>
                  <a:srgbClr val="028090"/>
                </a:solidFill>
                <a:latin typeface="Calibri" pitchFamily="34" charset="0"/>
                <a:ea typeface="Calibri" pitchFamily="34" charset="-122"/>
                <a:cs typeface="Calibri" pitchFamily="34" charset="-120"/>
              </a:rPr>
              <a:t>SPECIFIC OBJECTIVES</a:t>
            </a:r>
            <a:endParaRPr lang="en-US" sz="1300" dirty="0"/>
          </a:p>
        </p:txBody>
      </p:sp>
      <p:sp>
        <p:nvSpPr>
          <p:cNvPr id="8" name="Shape 6"/>
          <p:cNvSpPr/>
          <p:nvPr/>
        </p:nvSpPr>
        <p:spPr>
          <a:xfrm>
            <a:off x="640080" y="3429000"/>
            <a:ext cx="3337560" cy="1463040"/>
          </a:xfrm>
          <a:prstGeom prst="roundRect">
            <a:avLst>
              <a:gd name="adj" fmla="val 5000"/>
            </a:avLst>
          </a:prstGeom>
          <a:solidFill>
            <a:srgbClr val="EAF6F5"/>
          </a:solidFill>
          <a:ln w="9525">
            <a:solidFill>
              <a:srgbClr val="00A896"/>
            </a:solidFill>
            <a:prstDash val="solid"/>
          </a:ln>
        </p:spPr>
      </p:sp>
      <p:sp>
        <p:nvSpPr>
          <p:cNvPr id="9" name="Text 7"/>
          <p:cNvSpPr/>
          <p:nvPr/>
        </p:nvSpPr>
        <p:spPr>
          <a:xfrm>
            <a:off x="777240" y="3520440"/>
            <a:ext cx="457200" cy="365760"/>
          </a:xfrm>
          <a:prstGeom prst="rect">
            <a:avLst/>
          </a:prstGeom>
          <a:noFill/>
          <a:ln/>
        </p:spPr>
        <p:txBody>
          <a:bodyPr wrap="square" rtlCol="0" anchor="ctr"/>
          <a:lstStyle/>
          <a:p>
            <a:pPr indent="0" marL="0">
              <a:buNone/>
            </a:pPr>
            <a:r>
              <a:rPr lang="en-US" sz="2000" b="1" dirty="0">
                <a:solidFill>
                  <a:srgbClr val="00A896"/>
                </a:solidFill>
                <a:latin typeface="Cambria" pitchFamily="34" charset="0"/>
                <a:ea typeface="Cambria" pitchFamily="34" charset="-122"/>
                <a:cs typeface="Cambria" pitchFamily="34" charset="-120"/>
              </a:rPr>
              <a:t>1</a:t>
            </a:r>
            <a:endParaRPr lang="en-US" sz="2000" dirty="0"/>
          </a:p>
        </p:txBody>
      </p:sp>
      <p:sp>
        <p:nvSpPr>
          <p:cNvPr id="10" name="Text 8"/>
          <p:cNvSpPr/>
          <p:nvPr/>
        </p:nvSpPr>
        <p:spPr>
          <a:xfrm>
            <a:off x="777240" y="3886200"/>
            <a:ext cx="3063240" cy="914400"/>
          </a:xfrm>
          <a:prstGeom prst="rect">
            <a:avLst/>
          </a:prstGeom>
          <a:noFill/>
          <a:ln/>
        </p:spPr>
        <p:txBody>
          <a:bodyPr wrap="square" rtlCol="0" anchor="t"/>
          <a:lstStyle/>
          <a:p>
            <a:pPr indent="0" marL="0">
              <a:lnSpc>
                <a:spcPct val="115000"/>
              </a:lnSpc>
              <a:buNone/>
            </a:pPr>
            <a:r>
              <a:rPr lang="en-US" sz="1150" dirty="0">
                <a:solidFill>
                  <a:srgbClr val="1B1B1B"/>
                </a:solidFill>
                <a:latin typeface="Calibri" pitchFamily="34" charset="0"/>
                <a:ea typeface="Calibri" pitchFamily="34" charset="-122"/>
                <a:cs typeface="Calibri" pitchFamily="34" charset="-120"/>
              </a:rPr>
              <a:t>Secure login &amp; user-account module restricting access to authorised staff</a:t>
            </a:r>
            <a:endParaRPr lang="en-US" sz="1150" dirty="0"/>
          </a:p>
        </p:txBody>
      </p:sp>
      <p:sp>
        <p:nvSpPr>
          <p:cNvPr id="11" name="Shape 9"/>
          <p:cNvSpPr/>
          <p:nvPr/>
        </p:nvSpPr>
        <p:spPr>
          <a:xfrm>
            <a:off x="4160520" y="3429000"/>
            <a:ext cx="3337560" cy="1463040"/>
          </a:xfrm>
          <a:prstGeom prst="roundRect">
            <a:avLst>
              <a:gd name="adj" fmla="val 5000"/>
            </a:avLst>
          </a:prstGeom>
          <a:solidFill>
            <a:srgbClr val="F7FCFB"/>
          </a:solidFill>
          <a:ln w="9525">
            <a:solidFill>
              <a:srgbClr val="00A896"/>
            </a:solidFill>
            <a:prstDash val="solid"/>
          </a:ln>
        </p:spPr>
      </p:sp>
      <p:sp>
        <p:nvSpPr>
          <p:cNvPr id="12" name="Text 10"/>
          <p:cNvSpPr/>
          <p:nvPr/>
        </p:nvSpPr>
        <p:spPr>
          <a:xfrm>
            <a:off x="4297680" y="3520440"/>
            <a:ext cx="457200" cy="365760"/>
          </a:xfrm>
          <a:prstGeom prst="rect">
            <a:avLst/>
          </a:prstGeom>
          <a:noFill/>
          <a:ln/>
        </p:spPr>
        <p:txBody>
          <a:bodyPr wrap="square" rtlCol="0" anchor="ctr"/>
          <a:lstStyle/>
          <a:p>
            <a:pPr indent="0" marL="0">
              <a:buNone/>
            </a:pPr>
            <a:r>
              <a:rPr lang="en-US" sz="2000" b="1" dirty="0">
                <a:solidFill>
                  <a:srgbClr val="00A896"/>
                </a:solidFill>
                <a:latin typeface="Cambria" pitchFamily="34" charset="0"/>
                <a:ea typeface="Cambria" pitchFamily="34" charset="-122"/>
                <a:cs typeface="Cambria" pitchFamily="34" charset="-120"/>
              </a:rPr>
              <a:t>2</a:t>
            </a:r>
            <a:endParaRPr lang="en-US" sz="2000" dirty="0"/>
          </a:p>
        </p:txBody>
      </p:sp>
      <p:sp>
        <p:nvSpPr>
          <p:cNvPr id="13" name="Text 11"/>
          <p:cNvSpPr/>
          <p:nvPr/>
        </p:nvSpPr>
        <p:spPr>
          <a:xfrm>
            <a:off x="4297680" y="3886200"/>
            <a:ext cx="3063240" cy="914400"/>
          </a:xfrm>
          <a:prstGeom prst="rect">
            <a:avLst/>
          </a:prstGeom>
          <a:noFill/>
          <a:ln/>
        </p:spPr>
        <p:txBody>
          <a:bodyPr wrap="square" rtlCol="0" anchor="t"/>
          <a:lstStyle/>
          <a:p>
            <a:pPr indent="0" marL="0">
              <a:lnSpc>
                <a:spcPct val="115000"/>
              </a:lnSpc>
              <a:buNone/>
            </a:pPr>
            <a:r>
              <a:rPr lang="en-US" sz="1150" dirty="0">
                <a:solidFill>
                  <a:srgbClr val="1B1B1B"/>
                </a:solidFill>
                <a:latin typeface="Calibri" pitchFamily="34" charset="0"/>
                <a:ea typeface="Calibri" pitchFamily="34" charset="-122"/>
                <a:cs typeface="Calibri" pitchFamily="34" charset="-120"/>
              </a:rPr>
              <a:t>Inventory module to add, search, update and delete medicine records</a:t>
            </a:r>
            <a:endParaRPr lang="en-US" sz="1150" dirty="0"/>
          </a:p>
        </p:txBody>
      </p:sp>
      <p:sp>
        <p:nvSpPr>
          <p:cNvPr id="14" name="Shape 12"/>
          <p:cNvSpPr/>
          <p:nvPr/>
        </p:nvSpPr>
        <p:spPr>
          <a:xfrm>
            <a:off x="7680960" y="3429000"/>
            <a:ext cx="3337560" cy="1463040"/>
          </a:xfrm>
          <a:prstGeom prst="roundRect">
            <a:avLst>
              <a:gd name="adj" fmla="val 5000"/>
            </a:avLst>
          </a:prstGeom>
          <a:solidFill>
            <a:srgbClr val="EAF6F5"/>
          </a:solidFill>
          <a:ln w="9525">
            <a:solidFill>
              <a:srgbClr val="00A896"/>
            </a:solidFill>
            <a:prstDash val="solid"/>
          </a:ln>
        </p:spPr>
      </p:sp>
      <p:sp>
        <p:nvSpPr>
          <p:cNvPr id="15" name="Text 13"/>
          <p:cNvSpPr/>
          <p:nvPr/>
        </p:nvSpPr>
        <p:spPr>
          <a:xfrm>
            <a:off x="7818120" y="3520440"/>
            <a:ext cx="457200" cy="365760"/>
          </a:xfrm>
          <a:prstGeom prst="rect">
            <a:avLst/>
          </a:prstGeom>
          <a:noFill/>
          <a:ln/>
        </p:spPr>
        <p:txBody>
          <a:bodyPr wrap="square" rtlCol="0" anchor="ctr"/>
          <a:lstStyle/>
          <a:p>
            <a:pPr indent="0" marL="0">
              <a:buNone/>
            </a:pPr>
            <a:r>
              <a:rPr lang="en-US" sz="2000" b="1" dirty="0">
                <a:solidFill>
                  <a:srgbClr val="00A896"/>
                </a:solidFill>
                <a:latin typeface="Cambria" pitchFamily="34" charset="0"/>
                <a:ea typeface="Cambria" pitchFamily="34" charset="-122"/>
                <a:cs typeface="Cambria" pitchFamily="34" charset="-120"/>
              </a:rPr>
              <a:t>3</a:t>
            </a:r>
            <a:endParaRPr lang="en-US" sz="2000" dirty="0"/>
          </a:p>
        </p:txBody>
      </p:sp>
      <p:sp>
        <p:nvSpPr>
          <p:cNvPr id="16" name="Text 14"/>
          <p:cNvSpPr/>
          <p:nvPr/>
        </p:nvSpPr>
        <p:spPr>
          <a:xfrm>
            <a:off x="7818120" y="3886200"/>
            <a:ext cx="3063240" cy="914400"/>
          </a:xfrm>
          <a:prstGeom prst="rect">
            <a:avLst/>
          </a:prstGeom>
          <a:noFill/>
          <a:ln/>
        </p:spPr>
        <p:txBody>
          <a:bodyPr wrap="square" rtlCol="0" anchor="t"/>
          <a:lstStyle/>
          <a:p>
            <a:pPr indent="0" marL="0">
              <a:lnSpc>
                <a:spcPct val="115000"/>
              </a:lnSpc>
              <a:buNone/>
            </a:pPr>
            <a:r>
              <a:rPr lang="en-US" sz="1150" dirty="0">
                <a:solidFill>
                  <a:srgbClr val="1B1B1B"/>
                </a:solidFill>
                <a:latin typeface="Calibri" pitchFamily="34" charset="0"/>
                <a:ea typeface="Calibri" pitchFamily="34" charset="-122"/>
                <a:cs typeface="Calibri" pitchFamily="34" charset="-120"/>
              </a:rPr>
              <a:t>Transactional sales module that updates stock and blocks expired medicine</a:t>
            </a:r>
            <a:endParaRPr lang="en-US" sz="1150" dirty="0"/>
          </a:p>
        </p:txBody>
      </p:sp>
      <p:sp>
        <p:nvSpPr>
          <p:cNvPr id="17" name="Shape 15"/>
          <p:cNvSpPr/>
          <p:nvPr/>
        </p:nvSpPr>
        <p:spPr>
          <a:xfrm>
            <a:off x="640080" y="5074920"/>
            <a:ext cx="3337560" cy="1463040"/>
          </a:xfrm>
          <a:prstGeom prst="roundRect">
            <a:avLst>
              <a:gd name="adj" fmla="val 5000"/>
            </a:avLst>
          </a:prstGeom>
          <a:solidFill>
            <a:srgbClr val="F7FCFB"/>
          </a:solidFill>
          <a:ln w="9525">
            <a:solidFill>
              <a:srgbClr val="00A896"/>
            </a:solidFill>
            <a:prstDash val="solid"/>
          </a:ln>
        </p:spPr>
      </p:sp>
      <p:sp>
        <p:nvSpPr>
          <p:cNvPr id="18" name="Text 16"/>
          <p:cNvSpPr/>
          <p:nvPr/>
        </p:nvSpPr>
        <p:spPr>
          <a:xfrm>
            <a:off x="777240" y="5166360"/>
            <a:ext cx="457200" cy="365760"/>
          </a:xfrm>
          <a:prstGeom prst="rect">
            <a:avLst/>
          </a:prstGeom>
          <a:noFill/>
          <a:ln/>
        </p:spPr>
        <p:txBody>
          <a:bodyPr wrap="square" rtlCol="0" anchor="ctr"/>
          <a:lstStyle/>
          <a:p>
            <a:pPr indent="0" marL="0">
              <a:buNone/>
            </a:pPr>
            <a:r>
              <a:rPr lang="en-US" sz="2000" b="1" dirty="0">
                <a:solidFill>
                  <a:srgbClr val="00A896"/>
                </a:solidFill>
                <a:latin typeface="Cambria" pitchFamily="34" charset="0"/>
                <a:ea typeface="Cambria" pitchFamily="34" charset="-122"/>
                <a:cs typeface="Cambria" pitchFamily="34" charset="-120"/>
              </a:rPr>
              <a:t>4</a:t>
            </a:r>
            <a:endParaRPr lang="en-US" sz="2000" dirty="0"/>
          </a:p>
        </p:txBody>
      </p:sp>
      <p:sp>
        <p:nvSpPr>
          <p:cNvPr id="19" name="Text 17"/>
          <p:cNvSpPr/>
          <p:nvPr/>
        </p:nvSpPr>
        <p:spPr>
          <a:xfrm>
            <a:off x="777240" y="5532120"/>
            <a:ext cx="3063240" cy="914400"/>
          </a:xfrm>
          <a:prstGeom prst="rect">
            <a:avLst/>
          </a:prstGeom>
          <a:noFill/>
          <a:ln/>
        </p:spPr>
        <p:txBody>
          <a:bodyPr wrap="square" rtlCol="0" anchor="t"/>
          <a:lstStyle/>
          <a:p>
            <a:pPr indent="0" marL="0">
              <a:lnSpc>
                <a:spcPct val="115000"/>
              </a:lnSpc>
              <a:buNone/>
            </a:pPr>
            <a:r>
              <a:rPr lang="en-US" sz="1150" dirty="0">
                <a:solidFill>
                  <a:srgbClr val="1B1B1B"/>
                </a:solidFill>
                <a:latin typeface="Calibri" pitchFamily="34" charset="0"/>
                <a:ea typeface="Calibri" pitchFamily="34" charset="-122"/>
                <a:cs typeface="Calibri" pitchFamily="34" charset="-120"/>
              </a:rPr>
              <a:t>Relational MySQL database linking medicines, sales, users, customers &amp; suppliers</a:t>
            </a:r>
            <a:endParaRPr lang="en-US" sz="1150" dirty="0"/>
          </a:p>
        </p:txBody>
      </p:sp>
      <p:sp>
        <p:nvSpPr>
          <p:cNvPr id="20" name="Shape 18"/>
          <p:cNvSpPr/>
          <p:nvPr/>
        </p:nvSpPr>
        <p:spPr>
          <a:xfrm>
            <a:off x="4160520" y="5074920"/>
            <a:ext cx="3337560" cy="1463040"/>
          </a:xfrm>
          <a:prstGeom prst="roundRect">
            <a:avLst>
              <a:gd name="adj" fmla="val 5000"/>
            </a:avLst>
          </a:prstGeom>
          <a:solidFill>
            <a:srgbClr val="EAF6F5"/>
          </a:solidFill>
          <a:ln w="9525">
            <a:solidFill>
              <a:srgbClr val="00A896"/>
            </a:solidFill>
            <a:prstDash val="solid"/>
          </a:ln>
        </p:spPr>
      </p:sp>
      <p:sp>
        <p:nvSpPr>
          <p:cNvPr id="21" name="Text 19"/>
          <p:cNvSpPr/>
          <p:nvPr/>
        </p:nvSpPr>
        <p:spPr>
          <a:xfrm>
            <a:off x="4297680" y="5166360"/>
            <a:ext cx="457200" cy="365760"/>
          </a:xfrm>
          <a:prstGeom prst="rect">
            <a:avLst/>
          </a:prstGeom>
          <a:noFill/>
          <a:ln/>
        </p:spPr>
        <p:txBody>
          <a:bodyPr wrap="square" rtlCol="0" anchor="ctr"/>
          <a:lstStyle/>
          <a:p>
            <a:pPr indent="0" marL="0">
              <a:buNone/>
            </a:pPr>
            <a:r>
              <a:rPr lang="en-US" sz="2000" b="1" dirty="0">
                <a:solidFill>
                  <a:srgbClr val="00A896"/>
                </a:solidFill>
                <a:latin typeface="Cambria" pitchFamily="34" charset="0"/>
                <a:ea typeface="Cambria" pitchFamily="34" charset="-122"/>
                <a:cs typeface="Cambria" pitchFamily="34" charset="-120"/>
              </a:rPr>
              <a:t>5</a:t>
            </a:r>
            <a:endParaRPr lang="en-US" sz="2000" dirty="0"/>
          </a:p>
        </p:txBody>
      </p:sp>
      <p:sp>
        <p:nvSpPr>
          <p:cNvPr id="22" name="Text 20"/>
          <p:cNvSpPr/>
          <p:nvPr/>
        </p:nvSpPr>
        <p:spPr>
          <a:xfrm>
            <a:off x="4297680" y="5532120"/>
            <a:ext cx="3063240" cy="914400"/>
          </a:xfrm>
          <a:prstGeom prst="rect">
            <a:avLst/>
          </a:prstGeom>
          <a:noFill/>
          <a:ln/>
        </p:spPr>
        <p:txBody>
          <a:bodyPr wrap="square" rtlCol="0" anchor="t"/>
          <a:lstStyle/>
          <a:p>
            <a:pPr indent="0" marL="0">
              <a:lnSpc>
                <a:spcPct val="115000"/>
              </a:lnSpc>
              <a:buNone/>
            </a:pPr>
            <a:r>
              <a:rPr lang="en-US" sz="1150" dirty="0">
                <a:solidFill>
                  <a:srgbClr val="1B1B1B"/>
                </a:solidFill>
                <a:latin typeface="Calibri" pitchFamily="34" charset="0"/>
                <a:ea typeface="Calibri" pitchFamily="34" charset="-122"/>
                <a:cs typeface="Calibri" pitchFamily="34" charset="-120"/>
              </a:rPr>
              <a:t>Real-time reports (low stock, expiry, top sellers) for decision-making</a:t>
            </a:r>
            <a:endParaRPr lang="en-US" sz="1150" dirty="0"/>
          </a:p>
        </p:txBody>
      </p:sp>
      <p:sp>
        <p:nvSpPr>
          <p:cNvPr id="23" name="Text 21"/>
          <p:cNvSpPr/>
          <p:nvPr/>
        </p:nvSpPr>
        <p:spPr>
          <a:xfrm>
            <a:off x="457200" y="6537960"/>
            <a:ext cx="7315200" cy="274320"/>
          </a:xfrm>
          <a:prstGeom prst="rect">
            <a:avLst/>
          </a:prstGeom>
          <a:noFill/>
          <a:ln/>
        </p:spPr>
        <p:txBody>
          <a:bodyPr wrap="square" rtlCol="0" anchor="ctr"/>
          <a:lstStyle/>
          <a:p>
            <a:pPr algn="l" indent="0" marL="0">
              <a:buNone/>
            </a:pPr>
            <a:r>
              <a:rPr lang="en-US" sz="1000" dirty="0">
                <a:solidFill>
                  <a:srgbClr val="595959"/>
                </a:solidFill>
                <a:latin typeface="Calibri" pitchFamily="34" charset="0"/>
                <a:ea typeface="Calibri" pitchFamily="34" charset="-122"/>
                <a:cs typeface="Calibri" pitchFamily="34" charset="-120"/>
              </a:rPr>
              <a:t>Motherland Pharmacy Management System</a:t>
            </a:r>
            <a:endParaRPr lang="en-US" sz="1000" dirty="0"/>
          </a:p>
        </p:txBody>
      </p:sp>
      <p:sp>
        <p:nvSpPr>
          <p:cNvPr id="24" name="Text 22"/>
          <p:cNvSpPr/>
          <p:nvPr/>
        </p:nvSpPr>
        <p:spPr>
          <a:xfrm>
            <a:off x="11521440" y="6537960"/>
            <a:ext cx="45720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rtlCol="0" anchor="ctr"/>
          <a:lstStyle/>
          <a:p>
            <a:pPr indent="0" marL="0">
              <a:buNone/>
            </a:pPr>
            <a:r>
              <a:rPr lang="en-US" sz="1500" b="1" spc="200" kern="0" dirty="0">
                <a:solidFill>
                  <a:srgbClr val="028090"/>
                </a:solidFill>
                <a:latin typeface="Calibri" pitchFamily="34" charset="0"/>
                <a:ea typeface="Calibri" pitchFamily="34" charset="-122"/>
                <a:cs typeface="Calibri" pitchFamily="34" charset="-120"/>
              </a:rPr>
              <a:t>SECTION IV</a:t>
            </a:r>
            <a:endParaRPr lang="en-US" sz="1500" dirty="0"/>
          </a:p>
        </p:txBody>
      </p:sp>
      <p:sp>
        <p:nvSpPr>
          <p:cNvPr id="3" name="Text 1"/>
          <p:cNvSpPr/>
          <p:nvPr/>
        </p:nvSpPr>
        <p:spPr>
          <a:xfrm>
            <a:off x="548640" y="685800"/>
            <a:ext cx="10972800" cy="731520"/>
          </a:xfrm>
          <a:prstGeom prst="rect">
            <a:avLst/>
          </a:prstGeom>
          <a:noFill/>
          <a:ln/>
        </p:spPr>
        <p:txBody>
          <a:bodyPr wrap="square" rtlCol="0" anchor="ctr"/>
          <a:lstStyle/>
          <a:p>
            <a:pPr indent="0" marL="0">
              <a:buNone/>
            </a:pPr>
            <a:r>
              <a:rPr lang="en-US" sz="3200" b="1" dirty="0">
                <a:solidFill>
                  <a:srgbClr val="0B2E33"/>
                </a:solidFill>
                <a:latin typeface="Cambria" pitchFamily="34" charset="0"/>
                <a:ea typeface="Cambria" pitchFamily="34" charset="-122"/>
                <a:cs typeface="Cambria" pitchFamily="34" charset="-120"/>
              </a:rPr>
              <a:t>Functional Requirements</a:t>
            </a:r>
            <a:endParaRPr lang="en-US" sz="3200" dirty="0"/>
          </a:p>
        </p:txBody>
      </p:sp>
      <p:sp>
        <p:nvSpPr>
          <p:cNvPr id="4" name="Shape 2"/>
          <p:cNvSpPr/>
          <p:nvPr/>
        </p:nvSpPr>
        <p:spPr>
          <a:xfrm>
            <a:off x="640080" y="1737360"/>
            <a:ext cx="3017520" cy="512064"/>
          </a:xfrm>
          <a:prstGeom prst="rect">
            <a:avLst/>
          </a:prstGeom>
          <a:solidFill>
            <a:srgbClr val="028090"/>
          </a:solidFill>
          <a:ln/>
        </p:spPr>
      </p:sp>
      <p:sp>
        <p:nvSpPr>
          <p:cNvPr id="5" name="Shape 3"/>
          <p:cNvSpPr/>
          <p:nvPr/>
        </p:nvSpPr>
        <p:spPr>
          <a:xfrm>
            <a:off x="3657600" y="1737360"/>
            <a:ext cx="7909560" cy="512064"/>
          </a:xfrm>
          <a:prstGeom prst="rect">
            <a:avLst/>
          </a:prstGeom>
          <a:solidFill>
            <a:srgbClr val="0B2E33"/>
          </a:solidFill>
          <a:ln/>
        </p:spPr>
      </p:sp>
      <p:sp>
        <p:nvSpPr>
          <p:cNvPr id="6" name="Text 4"/>
          <p:cNvSpPr/>
          <p:nvPr/>
        </p:nvSpPr>
        <p:spPr>
          <a:xfrm>
            <a:off x="777240" y="1737360"/>
            <a:ext cx="2834640" cy="512064"/>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Function</a:t>
            </a:r>
            <a:endParaRPr lang="en-US" sz="1300" dirty="0"/>
          </a:p>
        </p:txBody>
      </p:sp>
      <p:sp>
        <p:nvSpPr>
          <p:cNvPr id="7" name="Text 5"/>
          <p:cNvSpPr/>
          <p:nvPr/>
        </p:nvSpPr>
        <p:spPr>
          <a:xfrm>
            <a:off x="3794760" y="1737360"/>
            <a:ext cx="7726680" cy="512064"/>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Description</a:t>
            </a:r>
            <a:endParaRPr lang="en-US" sz="1300" dirty="0"/>
          </a:p>
        </p:txBody>
      </p:sp>
      <p:sp>
        <p:nvSpPr>
          <p:cNvPr id="8" name="Shape 6"/>
          <p:cNvSpPr/>
          <p:nvPr/>
        </p:nvSpPr>
        <p:spPr>
          <a:xfrm>
            <a:off x="640080" y="2249424"/>
            <a:ext cx="10927080" cy="512064"/>
          </a:xfrm>
          <a:prstGeom prst="rect">
            <a:avLst/>
          </a:prstGeom>
          <a:solidFill>
            <a:srgbClr val="FFFFFF"/>
          </a:solidFill>
          <a:ln w="6350">
            <a:solidFill>
              <a:srgbClr val="DDEDEB"/>
            </a:solidFill>
            <a:prstDash val="solid"/>
          </a:ln>
        </p:spPr>
      </p:sp>
      <p:sp>
        <p:nvSpPr>
          <p:cNvPr id="9" name="Text 7"/>
          <p:cNvSpPr/>
          <p:nvPr/>
        </p:nvSpPr>
        <p:spPr>
          <a:xfrm>
            <a:off x="777240" y="2249424"/>
            <a:ext cx="2834640" cy="512064"/>
          </a:xfrm>
          <a:prstGeom prst="rect">
            <a:avLst/>
          </a:prstGeom>
          <a:noFill/>
          <a:ln/>
        </p:spPr>
        <p:txBody>
          <a:bodyPr wrap="square" rtlCol="0" anchor="ctr"/>
          <a:lstStyle/>
          <a:p>
            <a:pPr indent="0" marL="0">
              <a:buNone/>
            </a:pPr>
            <a:r>
              <a:rPr lang="en-US" sz="1150" b="1" dirty="0">
                <a:solidFill>
                  <a:srgbClr val="0B2E33"/>
                </a:solidFill>
                <a:latin typeface="Calibri" pitchFamily="34" charset="0"/>
                <a:ea typeface="Calibri" pitchFamily="34" charset="-122"/>
                <a:cs typeface="Calibri" pitchFamily="34" charset="-120"/>
              </a:rPr>
              <a:t>Authentication</a:t>
            </a:r>
            <a:endParaRPr lang="en-US" sz="1150" dirty="0"/>
          </a:p>
        </p:txBody>
      </p:sp>
      <p:sp>
        <p:nvSpPr>
          <p:cNvPr id="10" name="Text 8"/>
          <p:cNvSpPr/>
          <p:nvPr/>
        </p:nvSpPr>
        <p:spPr>
          <a:xfrm>
            <a:off x="3794760" y="2249424"/>
            <a:ext cx="7726680" cy="512064"/>
          </a:xfrm>
          <a:prstGeom prst="rect">
            <a:avLst/>
          </a:prstGeom>
          <a:noFill/>
          <a:ln/>
        </p:spPr>
        <p:txBody>
          <a:bodyPr wrap="square" rtlCol="0" anchor="ctr"/>
          <a:lstStyle/>
          <a:p>
            <a:pPr indent="0" marL="0">
              <a:buNone/>
            </a:pPr>
            <a:r>
              <a:rPr lang="en-US" sz="1150" dirty="0">
                <a:solidFill>
                  <a:srgbClr val="333333"/>
                </a:solidFill>
                <a:latin typeface="Calibri" pitchFamily="34" charset="0"/>
                <a:ea typeface="Calibri" pitchFamily="34" charset="-122"/>
                <a:cs typeface="Calibri" pitchFamily="34" charset="-120"/>
              </a:rPr>
              <a:t>Staff log in with username &amp; password (login())</a:t>
            </a:r>
            <a:endParaRPr lang="en-US" sz="1150" dirty="0"/>
          </a:p>
        </p:txBody>
      </p:sp>
      <p:sp>
        <p:nvSpPr>
          <p:cNvPr id="11" name="Shape 9"/>
          <p:cNvSpPr/>
          <p:nvPr/>
        </p:nvSpPr>
        <p:spPr>
          <a:xfrm>
            <a:off x="640080" y="2761488"/>
            <a:ext cx="10927080" cy="512064"/>
          </a:xfrm>
          <a:prstGeom prst="rect">
            <a:avLst/>
          </a:prstGeom>
          <a:solidFill>
            <a:srgbClr val="EAF6F5"/>
          </a:solidFill>
          <a:ln w="6350">
            <a:solidFill>
              <a:srgbClr val="DDEDEB"/>
            </a:solidFill>
            <a:prstDash val="solid"/>
          </a:ln>
        </p:spPr>
      </p:sp>
      <p:sp>
        <p:nvSpPr>
          <p:cNvPr id="12" name="Text 10"/>
          <p:cNvSpPr/>
          <p:nvPr/>
        </p:nvSpPr>
        <p:spPr>
          <a:xfrm>
            <a:off x="777240" y="2761488"/>
            <a:ext cx="2834640" cy="512064"/>
          </a:xfrm>
          <a:prstGeom prst="rect">
            <a:avLst/>
          </a:prstGeom>
          <a:noFill/>
          <a:ln/>
        </p:spPr>
        <p:txBody>
          <a:bodyPr wrap="square" rtlCol="0" anchor="ctr"/>
          <a:lstStyle/>
          <a:p>
            <a:pPr indent="0" marL="0">
              <a:buNone/>
            </a:pPr>
            <a:r>
              <a:rPr lang="en-US" sz="1150" b="1" dirty="0">
                <a:solidFill>
                  <a:srgbClr val="0B2E33"/>
                </a:solidFill>
                <a:latin typeface="Calibri" pitchFamily="34" charset="0"/>
                <a:ea typeface="Calibri" pitchFamily="34" charset="-122"/>
                <a:cs typeface="Calibri" pitchFamily="34" charset="-120"/>
              </a:rPr>
              <a:t>User Management</a:t>
            </a:r>
            <a:endParaRPr lang="en-US" sz="1150" dirty="0"/>
          </a:p>
        </p:txBody>
      </p:sp>
      <p:sp>
        <p:nvSpPr>
          <p:cNvPr id="13" name="Text 11"/>
          <p:cNvSpPr/>
          <p:nvPr/>
        </p:nvSpPr>
        <p:spPr>
          <a:xfrm>
            <a:off x="3794760" y="2761488"/>
            <a:ext cx="7726680" cy="512064"/>
          </a:xfrm>
          <a:prstGeom prst="rect">
            <a:avLst/>
          </a:prstGeom>
          <a:noFill/>
          <a:ln/>
        </p:spPr>
        <p:txBody>
          <a:bodyPr wrap="square" rtlCol="0" anchor="ctr"/>
          <a:lstStyle/>
          <a:p>
            <a:pPr indent="0" marL="0">
              <a:buNone/>
            </a:pPr>
            <a:r>
              <a:rPr lang="en-US" sz="1150" dirty="0">
                <a:solidFill>
                  <a:srgbClr val="333333"/>
                </a:solidFill>
                <a:latin typeface="Calibri" pitchFamily="34" charset="0"/>
                <a:ea typeface="Calibri" pitchFamily="34" charset="-122"/>
                <a:cs typeface="Calibri" pitchFamily="34" charset="-120"/>
              </a:rPr>
              <a:t>Add / view / search / update / delete staff accounts</a:t>
            </a:r>
            <a:endParaRPr lang="en-US" sz="1150" dirty="0"/>
          </a:p>
        </p:txBody>
      </p:sp>
      <p:sp>
        <p:nvSpPr>
          <p:cNvPr id="14" name="Shape 12"/>
          <p:cNvSpPr/>
          <p:nvPr/>
        </p:nvSpPr>
        <p:spPr>
          <a:xfrm>
            <a:off x="640080" y="3273552"/>
            <a:ext cx="10927080" cy="512064"/>
          </a:xfrm>
          <a:prstGeom prst="rect">
            <a:avLst/>
          </a:prstGeom>
          <a:solidFill>
            <a:srgbClr val="FFFFFF"/>
          </a:solidFill>
          <a:ln w="6350">
            <a:solidFill>
              <a:srgbClr val="DDEDEB"/>
            </a:solidFill>
            <a:prstDash val="solid"/>
          </a:ln>
        </p:spPr>
      </p:sp>
      <p:sp>
        <p:nvSpPr>
          <p:cNvPr id="15" name="Text 13"/>
          <p:cNvSpPr/>
          <p:nvPr/>
        </p:nvSpPr>
        <p:spPr>
          <a:xfrm>
            <a:off x="777240" y="3273552"/>
            <a:ext cx="2834640" cy="512064"/>
          </a:xfrm>
          <a:prstGeom prst="rect">
            <a:avLst/>
          </a:prstGeom>
          <a:noFill/>
          <a:ln/>
        </p:spPr>
        <p:txBody>
          <a:bodyPr wrap="square" rtlCol="0" anchor="ctr"/>
          <a:lstStyle/>
          <a:p>
            <a:pPr indent="0" marL="0">
              <a:buNone/>
            </a:pPr>
            <a:r>
              <a:rPr lang="en-US" sz="1150" b="1" dirty="0">
                <a:solidFill>
                  <a:srgbClr val="0B2E33"/>
                </a:solidFill>
                <a:latin typeface="Calibri" pitchFamily="34" charset="0"/>
                <a:ea typeface="Calibri" pitchFamily="34" charset="-122"/>
                <a:cs typeface="Calibri" pitchFamily="34" charset="-120"/>
              </a:rPr>
              <a:t>Medicine Management</a:t>
            </a:r>
            <a:endParaRPr lang="en-US" sz="1150" dirty="0"/>
          </a:p>
        </p:txBody>
      </p:sp>
      <p:sp>
        <p:nvSpPr>
          <p:cNvPr id="16" name="Text 14"/>
          <p:cNvSpPr/>
          <p:nvPr/>
        </p:nvSpPr>
        <p:spPr>
          <a:xfrm>
            <a:off x="3794760" y="3273552"/>
            <a:ext cx="7726680" cy="512064"/>
          </a:xfrm>
          <a:prstGeom prst="rect">
            <a:avLst/>
          </a:prstGeom>
          <a:noFill/>
          <a:ln/>
        </p:spPr>
        <p:txBody>
          <a:bodyPr wrap="square" rtlCol="0" anchor="ctr"/>
          <a:lstStyle/>
          <a:p>
            <a:pPr indent="0" marL="0">
              <a:buNone/>
            </a:pPr>
            <a:r>
              <a:rPr lang="en-US" sz="1150" dirty="0">
                <a:solidFill>
                  <a:srgbClr val="333333"/>
                </a:solidFill>
                <a:latin typeface="Calibri" pitchFamily="34" charset="0"/>
                <a:ea typeface="Calibri" pitchFamily="34" charset="-122"/>
                <a:cs typeface="Calibri" pitchFamily="34" charset="-120"/>
              </a:rPr>
              <a:t>Add / view / search / update / delete medicine records</a:t>
            </a:r>
            <a:endParaRPr lang="en-US" sz="1150" dirty="0"/>
          </a:p>
        </p:txBody>
      </p:sp>
      <p:sp>
        <p:nvSpPr>
          <p:cNvPr id="17" name="Shape 15"/>
          <p:cNvSpPr/>
          <p:nvPr/>
        </p:nvSpPr>
        <p:spPr>
          <a:xfrm>
            <a:off x="640080" y="3785616"/>
            <a:ext cx="10927080" cy="512064"/>
          </a:xfrm>
          <a:prstGeom prst="rect">
            <a:avLst/>
          </a:prstGeom>
          <a:solidFill>
            <a:srgbClr val="EAF6F5"/>
          </a:solidFill>
          <a:ln w="6350">
            <a:solidFill>
              <a:srgbClr val="DDEDEB"/>
            </a:solidFill>
            <a:prstDash val="solid"/>
          </a:ln>
        </p:spPr>
      </p:sp>
      <p:sp>
        <p:nvSpPr>
          <p:cNvPr id="18" name="Text 16"/>
          <p:cNvSpPr/>
          <p:nvPr/>
        </p:nvSpPr>
        <p:spPr>
          <a:xfrm>
            <a:off x="777240" y="3785616"/>
            <a:ext cx="2834640" cy="512064"/>
          </a:xfrm>
          <a:prstGeom prst="rect">
            <a:avLst/>
          </a:prstGeom>
          <a:noFill/>
          <a:ln/>
        </p:spPr>
        <p:txBody>
          <a:bodyPr wrap="square" rtlCol="0" anchor="ctr"/>
          <a:lstStyle/>
          <a:p>
            <a:pPr indent="0" marL="0">
              <a:buNone/>
            </a:pPr>
            <a:r>
              <a:rPr lang="en-US" sz="1150" b="1" dirty="0">
                <a:solidFill>
                  <a:srgbClr val="0B2E33"/>
                </a:solidFill>
                <a:latin typeface="Calibri" pitchFamily="34" charset="0"/>
                <a:ea typeface="Calibri" pitchFamily="34" charset="-122"/>
                <a:cs typeface="Calibri" pitchFamily="34" charset="-120"/>
              </a:rPr>
              <a:t>Supplier Management</a:t>
            </a:r>
            <a:endParaRPr lang="en-US" sz="1150" dirty="0"/>
          </a:p>
        </p:txBody>
      </p:sp>
      <p:sp>
        <p:nvSpPr>
          <p:cNvPr id="19" name="Text 17"/>
          <p:cNvSpPr/>
          <p:nvPr/>
        </p:nvSpPr>
        <p:spPr>
          <a:xfrm>
            <a:off x="3794760" y="3785616"/>
            <a:ext cx="7726680" cy="512064"/>
          </a:xfrm>
          <a:prstGeom prst="rect">
            <a:avLst/>
          </a:prstGeom>
          <a:noFill/>
          <a:ln/>
        </p:spPr>
        <p:txBody>
          <a:bodyPr wrap="square" rtlCol="0" anchor="ctr"/>
          <a:lstStyle/>
          <a:p>
            <a:pPr indent="0" marL="0">
              <a:buNone/>
            </a:pPr>
            <a:r>
              <a:rPr lang="en-US" sz="1150" dirty="0">
                <a:solidFill>
                  <a:srgbClr val="333333"/>
                </a:solidFill>
                <a:latin typeface="Calibri" pitchFamily="34" charset="0"/>
                <a:ea typeface="Calibri" pitchFamily="34" charset="-122"/>
                <a:cs typeface="Calibri" pitchFamily="34" charset="-120"/>
              </a:rPr>
              <a:t>Add / view / search / update / delete supplier records</a:t>
            </a:r>
            <a:endParaRPr lang="en-US" sz="1150" dirty="0"/>
          </a:p>
        </p:txBody>
      </p:sp>
      <p:sp>
        <p:nvSpPr>
          <p:cNvPr id="20" name="Shape 18"/>
          <p:cNvSpPr/>
          <p:nvPr/>
        </p:nvSpPr>
        <p:spPr>
          <a:xfrm>
            <a:off x="640080" y="4297680"/>
            <a:ext cx="10927080" cy="512064"/>
          </a:xfrm>
          <a:prstGeom prst="rect">
            <a:avLst/>
          </a:prstGeom>
          <a:solidFill>
            <a:srgbClr val="FFFFFF"/>
          </a:solidFill>
          <a:ln w="6350">
            <a:solidFill>
              <a:srgbClr val="DDEDEB"/>
            </a:solidFill>
            <a:prstDash val="solid"/>
          </a:ln>
        </p:spPr>
      </p:sp>
      <p:sp>
        <p:nvSpPr>
          <p:cNvPr id="21" name="Text 19"/>
          <p:cNvSpPr/>
          <p:nvPr/>
        </p:nvSpPr>
        <p:spPr>
          <a:xfrm>
            <a:off x="777240" y="4297680"/>
            <a:ext cx="2834640" cy="512064"/>
          </a:xfrm>
          <a:prstGeom prst="rect">
            <a:avLst/>
          </a:prstGeom>
          <a:noFill/>
          <a:ln/>
        </p:spPr>
        <p:txBody>
          <a:bodyPr wrap="square" rtlCol="0" anchor="ctr"/>
          <a:lstStyle/>
          <a:p>
            <a:pPr indent="0" marL="0">
              <a:buNone/>
            </a:pPr>
            <a:r>
              <a:rPr lang="en-US" sz="1150" b="1" dirty="0">
                <a:solidFill>
                  <a:srgbClr val="0B2E33"/>
                </a:solidFill>
                <a:latin typeface="Calibri" pitchFamily="34" charset="0"/>
                <a:ea typeface="Calibri" pitchFamily="34" charset="-122"/>
                <a:cs typeface="Calibri" pitchFamily="34" charset="-120"/>
              </a:rPr>
              <a:t>Customer Management</a:t>
            </a:r>
            <a:endParaRPr lang="en-US" sz="1150" dirty="0"/>
          </a:p>
        </p:txBody>
      </p:sp>
      <p:sp>
        <p:nvSpPr>
          <p:cNvPr id="22" name="Text 20"/>
          <p:cNvSpPr/>
          <p:nvPr/>
        </p:nvSpPr>
        <p:spPr>
          <a:xfrm>
            <a:off x="3794760" y="4297680"/>
            <a:ext cx="7726680" cy="512064"/>
          </a:xfrm>
          <a:prstGeom prst="rect">
            <a:avLst/>
          </a:prstGeom>
          <a:noFill/>
          <a:ln/>
        </p:spPr>
        <p:txBody>
          <a:bodyPr wrap="square" rtlCol="0" anchor="ctr"/>
          <a:lstStyle/>
          <a:p>
            <a:pPr indent="0" marL="0">
              <a:buNone/>
            </a:pPr>
            <a:r>
              <a:rPr lang="en-US" sz="1150" dirty="0">
                <a:solidFill>
                  <a:srgbClr val="333333"/>
                </a:solidFill>
                <a:latin typeface="Calibri" pitchFamily="34" charset="0"/>
                <a:ea typeface="Calibri" pitchFamily="34" charset="-122"/>
                <a:cs typeface="Calibri" pitchFamily="34" charset="-120"/>
              </a:rPr>
              <a:t>Add / view / search / update / delete customer records</a:t>
            </a:r>
            <a:endParaRPr lang="en-US" sz="1150" dirty="0"/>
          </a:p>
        </p:txBody>
      </p:sp>
      <p:sp>
        <p:nvSpPr>
          <p:cNvPr id="23" name="Shape 21"/>
          <p:cNvSpPr/>
          <p:nvPr/>
        </p:nvSpPr>
        <p:spPr>
          <a:xfrm>
            <a:off x="640080" y="4809744"/>
            <a:ext cx="10927080" cy="512064"/>
          </a:xfrm>
          <a:prstGeom prst="rect">
            <a:avLst/>
          </a:prstGeom>
          <a:solidFill>
            <a:srgbClr val="EAF6F5"/>
          </a:solidFill>
          <a:ln w="6350">
            <a:solidFill>
              <a:srgbClr val="DDEDEB"/>
            </a:solidFill>
            <a:prstDash val="solid"/>
          </a:ln>
        </p:spPr>
      </p:sp>
      <p:sp>
        <p:nvSpPr>
          <p:cNvPr id="24" name="Text 22"/>
          <p:cNvSpPr/>
          <p:nvPr/>
        </p:nvSpPr>
        <p:spPr>
          <a:xfrm>
            <a:off x="777240" y="4809744"/>
            <a:ext cx="2834640" cy="512064"/>
          </a:xfrm>
          <a:prstGeom prst="rect">
            <a:avLst/>
          </a:prstGeom>
          <a:noFill/>
          <a:ln/>
        </p:spPr>
        <p:txBody>
          <a:bodyPr wrap="square" rtlCol="0" anchor="ctr"/>
          <a:lstStyle/>
          <a:p>
            <a:pPr indent="0" marL="0">
              <a:buNone/>
            </a:pPr>
            <a:r>
              <a:rPr lang="en-US" sz="1150" b="1" dirty="0">
                <a:solidFill>
                  <a:srgbClr val="0B2E33"/>
                </a:solidFill>
                <a:latin typeface="Calibri" pitchFamily="34" charset="0"/>
                <a:ea typeface="Calibri" pitchFamily="34" charset="-122"/>
                <a:cs typeface="Calibri" pitchFamily="34" charset="-120"/>
              </a:rPr>
              <a:t>Sales Processing</a:t>
            </a:r>
            <a:endParaRPr lang="en-US" sz="1150" dirty="0"/>
          </a:p>
        </p:txBody>
      </p:sp>
      <p:sp>
        <p:nvSpPr>
          <p:cNvPr id="25" name="Text 23"/>
          <p:cNvSpPr/>
          <p:nvPr/>
        </p:nvSpPr>
        <p:spPr>
          <a:xfrm>
            <a:off x="3794760" y="4809744"/>
            <a:ext cx="7726680" cy="512064"/>
          </a:xfrm>
          <a:prstGeom prst="rect">
            <a:avLst/>
          </a:prstGeom>
          <a:noFill/>
          <a:ln/>
        </p:spPr>
        <p:txBody>
          <a:bodyPr wrap="square" rtlCol="0" anchor="ctr"/>
          <a:lstStyle/>
          <a:p>
            <a:pPr indent="0" marL="0">
              <a:buNone/>
            </a:pPr>
            <a:r>
              <a:rPr lang="en-US" sz="1150" dirty="0">
                <a:solidFill>
                  <a:srgbClr val="333333"/>
                </a:solidFill>
                <a:latin typeface="Calibri" pitchFamily="34" charset="0"/>
                <a:ea typeface="Calibri" pitchFamily="34" charset="-122"/>
                <a:cs typeface="Calibri" pitchFamily="34" charset="-120"/>
              </a:rPr>
              <a:t>Create sale, view/search history, receipt, delete (transaction-safe)</a:t>
            </a:r>
            <a:endParaRPr lang="en-US" sz="1150" dirty="0"/>
          </a:p>
        </p:txBody>
      </p:sp>
      <p:sp>
        <p:nvSpPr>
          <p:cNvPr id="26" name="Shape 24"/>
          <p:cNvSpPr/>
          <p:nvPr/>
        </p:nvSpPr>
        <p:spPr>
          <a:xfrm>
            <a:off x="640080" y="5321808"/>
            <a:ext cx="10927080" cy="512064"/>
          </a:xfrm>
          <a:prstGeom prst="rect">
            <a:avLst/>
          </a:prstGeom>
          <a:solidFill>
            <a:srgbClr val="FFFFFF"/>
          </a:solidFill>
          <a:ln w="6350">
            <a:solidFill>
              <a:srgbClr val="DDEDEB"/>
            </a:solidFill>
            <a:prstDash val="solid"/>
          </a:ln>
        </p:spPr>
      </p:sp>
      <p:sp>
        <p:nvSpPr>
          <p:cNvPr id="27" name="Text 25"/>
          <p:cNvSpPr/>
          <p:nvPr/>
        </p:nvSpPr>
        <p:spPr>
          <a:xfrm>
            <a:off x="777240" y="5321808"/>
            <a:ext cx="2834640" cy="512064"/>
          </a:xfrm>
          <a:prstGeom prst="rect">
            <a:avLst/>
          </a:prstGeom>
          <a:noFill/>
          <a:ln/>
        </p:spPr>
        <p:txBody>
          <a:bodyPr wrap="square" rtlCol="0" anchor="ctr"/>
          <a:lstStyle/>
          <a:p>
            <a:pPr indent="0" marL="0">
              <a:buNone/>
            </a:pPr>
            <a:r>
              <a:rPr lang="en-US" sz="1150" b="1" dirty="0">
                <a:solidFill>
                  <a:srgbClr val="0B2E33"/>
                </a:solidFill>
                <a:latin typeface="Calibri" pitchFamily="34" charset="0"/>
                <a:ea typeface="Calibri" pitchFamily="34" charset="-122"/>
                <a:cs typeface="Calibri" pitchFamily="34" charset="-120"/>
              </a:rPr>
              <a:t>Reporting</a:t>
            </a:r>
            <a:endParaRPr lang="en-US" sz="1150" dirty="0"/>
          </a:p>
        </p:txBody>
      </p:sp>
      <p:sp>
        <p:nvSpPr>
          <p:cNvPr id="28" name="Text 26"/>
          <p:cNvSpPr/>
          <p:nvPr/>
        </p:nvSpPr>
        <p:spPr>
          <a:xfrm>
            <a:off x="3794760" y="5321808"/>
            <a:ext cx="7726680" cy="512064"/>
          </a:xfrm>
          <a:prstGeom prst="rect">
            <a:avLst/>
          </a:prstGeom>
          <a:noFill/>
          <a:ln/>
        </p:spPr>
        <p:txBody>
          <a:bodyPr wrap="square" rtlCol="0" anchor="ctr"/>
          <a:lstStyle/>
          <a:p>
            <a:pPr indent="0" marL="0">
              <a:buNone/>
            </a:pPr>
            <a:r>
              <a:rPr lang="en-US" sz="1150" dirty="0">
                <a:solidFill>
                  <a:srgbClr val="333333"/>
                </a:solidFill>
                <a:latin typeface="Calibri" pitchFamily="34" charset="0"/>
                <a:ea typeface="Calibri" pitchFamily="34" charset="-122"/>
                <a:cs typeface="Calibri" pitchFamily="34" charset="-120"/>
              </a:rPr>
              <a:t>Daily, low-stock, expiry, top-selling, monthly &amp; value reports</a:t>
            </a:r>
            <a:endParaRPr lang="en-US" sz="1150" dirty="0"/>
          </a:p>
        </p:txBody>
      </p:sp>
      <p:sp>
        <p:nvSpPr>
          <p:cNvPr id="29" name="Shape 27"/>
          <p:cNvSpPr/>
          <p:nvPr/>
        </p:nvSpPr>
        <p:spPr>
          <a:xfrm>
            <a:off x="640080" y="5833872"/>
            <a:ext cx="10927080" cy="512064"/>
          </a:xfrm>
          <a:prstGeom prst="rect">
            <a:avLst/>
          </a:prstGeom>
          <a:solidFill>
            <a:srgbClr val="EAF6F5"/>
          </a:solidFill>
          <a:ln w="6350">
            <a:solidFill>
              <a:srgbClr val="DDEDEB"/>
            </a:solidFill>
            <a:prstDash val="solid"/>
          </a:ln>
        </p:spPr>
      </p:sp>
      <p:sp>
        <p:nvSpPr>
          <p:cNvPr id="30" name="Text 28"/>
          <p:cNvSpPr/>
          <p:nvPr/>
        </p:nvSpPr>
        <p:spPr>
          <a:xfrm>
            <a:off x="777240" y="5833872"/>
            <a:ext cx="2834640" cy="512064"/>
          </a:xfrm>
          <a:prstGeom prst="rect">
            <a:avLst/>
          </a:prstGeom>
          <a:noFill/>
          <a:ln/>
        </p:spPr>
        <p:txBody>
          <a:bodyPr wrap="square" rtlCol="0" anchor="ctr"/>
          <a:lstStyle/>
          <a:p>
            <a:pPr indent="0" marL="0">
              <a:buNone/>
            </a:pPr>
            <a:r>
              <a:rPr lang="en-US" sz="1150" b="1" dirty="0">
                <a:solidFill>
                  <a:srgbClr val="0B2E33"/>
                </a:solidFill>
                <a:latin typeface="Calibri" pitchFamily="34" charset="0"/>
                <a:ea typeface="Calibri" pitchFamily="34" charset="-122"/>
                <a:cs typeface="Calibri" pitchFamily="34" charset="-120"/>
              </a:rPr>
              <a:t>System Overview</a:t>
            </a:r>
            <a:endParaRPr lang="en-US" sz="1150" dirty="0"/>
          </a:p>
        </p:txBody>
      </p:sp>
      <p:sp>
        <p:nvSpPr>
          <p:cNvPr id="31" name="Text 29"/>
          <p:cNvSpPr/>
          <p:nvPr/>
        </p:nvSpPr>
        <p:spPr>
          <a:xfrm>
            <a:off x="3794760" y="5833872"/>
            <a:ext cx="7726680" cy="512064"/>
          </a:xfrm>
          <a:prstGeom prst="rect">
            <a:avLst/>
          </a:prstGeom>
          <a:noFill/>
          <a:ln/>
        </p:spPr>
        <p:txBody>
          <a:bodyPr wrap="square" rtlCol="0" anchor="ctr"/>
          <a:lstStyle/>
          <a:p>
            <a:pPr indent="0" marL="0">
              <a:buNone/>
            </a:pPr>
            <a:r>
              <a:rPr lang="en-US" sz="1150" dirty="0">
                <a:solidFill>
                  <a:srgbClr val="333333"/>
                </a:solidFill>
                <a:latin typeface="Calibri" pitchFamily="34" charset="0"/>
                <a:ea typeface="Calibri" pitchFamily="34" charset="-122"/>
                <a:cs typeface="Calibri" pitchFamily="34" charset="-120"/>
              </a:rPr>
              <a:t>Dashboard summary of overall pharmacy performance</a:t>
            </a:r>
            <a:endParaRPr lang="en-US" sz="1150" dirty="0"/>
          </a:p>
        </p:txBody>
      </p:sp>
      <p:sp>
        <p:nvSpPr>
          <p:cNvPr id="32" name="Text 30"/>
          <p:cNvSpPr/>
          <p:nvPr/>
        </p:nvSpPr>
        <p:spPr>
          <a:xfrm>
            <a:off x="457200" y="6537960"/>
            <a:ext cx="7315200" cy="274320"/>
          </a:xfrm>
          <a:prstGeom prst="rect">
            <a:avLst/>
          </a:prstGeom>
          <a:noFill/>
          <a:ln/>
        </p:spPr>
        <p:txBody>
          <a:bodyPr wrap="square" rtlCol="0" anchor="ctr"/>
          <a:lstStyle/>
          <a:p>
            <a:pPr algn="l" indent="0" marL="0">
              <a:buNone/>
            </a:pPr>
            <a:r>
              <a:rPr lang="en-US" sz="1000" dirty="0">
                <a:solidFill>
                  <a:srgbClr val="595959"/>
                </a:solidFill>
                <a:latin typeface="Calibri" pitchFamily="34" charset="0"/>
                <a:ea typeface="Calibri" pitchFamily="34" charset="-122"/>
                <a:cs typeface="Calibri" pitchFamily="34" charset="-120"/>
              </a:rPr>
              <a:t>Motherland Pharmacy Management System</a:t>
            </a:r>
            <a:endParaRPr lang="en-US" sz="1000" dirty="0"/>
          </a:p>
        </p:txBody>
      </p:sp>
      <p:sp>
        <p:nvSpPr>
          <p:cNvPr id="33" name="Text 31"/>
          <p:cNvSpPr/>
          <p:nvPr/>
        </p:nvSpPr>
        <p:spPr>
          <a:xfrm>
            <a:off x="11521440" y="6537960"/>
            <a:ext cx="45720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2E33"/>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00A896"/>
          </a:solidFill>
          <a:ln/>
        </p:spPr>
      </p:sp>
      <p:sp>
        <p:nvSpPr>
          <p:cNvPr id="3" name="Text 1"/>
          <p:cNvSpPr/>
          <p:nvPr/>
        </p:nvSpPr>
        <p:spPr>
          <a:xfrm>
            <a:off x="548640" y="365760"/>
            <a:ext cx="7315200" cy="365760"/>
          </a:xfrm>
          <a:prstGeom prst="rect">
            <a:avLst/>
          </a:prstGeom>
          <a:noFill/>
          <a:ln/>
        </p:spPr>
        <p:txBody>
          <a:bodyPr wrap="square" rtlCol="0" anchor="ctr"/>
          <a:lstStyle/>
          <a:p>
            <a:pPr indent="0" marL="0">
              <a:buNone/>
            </a:pPr>
            <a:r>
              <a:rPr lang="en-US" sz="1500" b="1" spc="200" kern="0" dirty="0">
                <a:solidFill>
                  <a:srgbClr val="00A896"/>
                </a:solidFill>
                <a:latin typeface="Calibri" pitchFamily="34" charset="0"/>
                <a:ea typeface="Calibri" pitchFamily="34" charset="-122"/>
                <a:cs typeface="Calibri" pitchFamily="34" charset="-120"/>
              </a:rPr>
              <a:t>SECTION IV</a:t>
            </a:r>
            <a:endParaRPr lang="en-US" sz="1500" dirty="0"/>
          </a:p>
        </p:txBody>
      </p:sp>
      <p:sp>
        <p:nvSpPr>
          <p:cNvPr id="4" name="Text 2"/>
          <p:cNvSpPr/>
          <p:nvPr/>
        </p:nvSpPr>
        <p:spPr>
          <a:xfrm>
            <a:off x="548640" y="685800"/>
            <a:ext cx="10972800" cy="73152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Non-Functional Requirements</a:t>
            </a:r>
            <a:endParaRPr lang="en-US" sz="3200" dirty="0"/>
          </a:p>
        </p:txBody>
      </p:sp>
      <p:sp>
        <p:nvSpPr>
          <p:cNvPr id="5" name="Shape 3"/>
          <p:cNvSpPr/>
          <p:nvPr/>
        </p:nvSpPr>
        <p:spPr>
          <a:xfrm>
            <a:off x="640080" y="1828800"/>
            <a:ext cx="3611880" cy="1920240"/>
          </a:xfrm>
          <a:prstGeom prst="roundRect">
            <a:avLst>
              <a:gd name="adj" fmla="val 3810"/>
            </a:avLst>
          </a:prstGeom>
          <a:solidFill>
            <a:srgbClr val="12414A"/>
          </a:solidFill>
          <a:ln w="9525">
            <a:solidFill>
              <a:srgbClr val="00A896"/>
            </a:solidFill>
            <a:prstDash val="solid"/>
          </a:ln>
        </p:spPr>
      </p:sp>
      <p:sp>
        <p:nvSpPr>
          <p:cNvPr id="6" name="Text 4"/>
          <p:cNvSpPr/>
          <p:nvPr/>
        </p:nvSpPr>
        <p:spPr>
          <a:xfrm>
            <a:off x="822960" y="1965960"/>
            <a:ext cx="3246120" cy="365760"/>
          </a:xfrm>
          <a:prstGeom prst="rect">
            <a:avLst/>
          </a:prstGeom>
          <a:noFill/>
          <a:ln/>
        </p:spPr>
        <p:txBody>
          <a:bodyPr wrap="square" rtlCol="0" anchor="ctr"/>
          <a:lstStyle/>
          <a:p>
            <a:pPr indent="0" marL="0">
              <a:buNone/>
            </a:pPr>
            <a:r>
              <a:rPr lang="en-US" sz="1500" b="1" dirty="0">
                <a:solidFill>
                  <a:srgbClr val="02C39A"/>
                </a:solidFill>
                <a:latin typeface="Cambria" pitchFamily="34" charset="0"/>
                <a:ea typeface="Cambria" pitchFamily="34" charset="-122"/>
                <a:cs typeface="Cambria" pitchFamily="34" charset="-120"/>
              </a:rPr>
              <a:t>Reliability</a:t>
            </a:r>
            <a:endParaRPr lang="en-US" sz="1500" dirty="0"/>
          </a:p>
        </p:txBody>
      </p:sp>
      <p:sp>
        <p:nvSpPr>
          <p:cNvPr id="7" name="Text 5"/>
          <p:cNvSpPr/>
          <p:nvPr/>
        </p:nvSpPr>
        <p:spPr>
          <a:xfrm>
            <a:off x="822960" y="2377440"/>
            <a:ext cx="3246120" cy="1234440"/>
          </a:xfrm>
          <a:prstGeom prst="rect">
            <a:avLst/>
          </a:prstGeom>
          <a:noFill/>
          <a:ln/>
        </p:spPr>
        <p:txBody>
          <a:bodyPr wrap="square" rtlCol="0" anchor="t"/>
          <a:lstStyle/>
          <a:p>
            <a:pPr indent="0" marL="0">
              <a:lnSpc>
                <a:spcPct val="120000"/>
              </a:lnSpc>
              <a:buNone/>
            </a:pPr>
            <a:r>
              <a:rPr lang="en-US" sz="1150" dirty="0">
                <a:solidFill>
                  <a:srgbClr val="E6F5F3"/>
                </a:solidFill>
                <a:latin typeface="Calibri" pitchFamily="34" charset="0"/>
                <a:ea typeface="Calibri" pitchFamily="34" charset="-122"/>
                <a:cs typeface="Calibri" pitchFamily="34" charset="-120"/>
              </a:rPr>
              <a:t>Sales run inside DB transactions (BEGIN / COMMIT / ROLLBACK) keeping stock and sales consistent</a:t>
            </a:r>
            <a:endParaRPr lang="en-US" sz="1150" dirty="0"/>
          </a:p>
        </p:txBody>
      </p:sp>
      <p:sp>
        <p:nvSpPr>
          <p:cNvPr id="8" name="Shape 6"/>
          <p:cNvSpPr/>
          <p:nvPr/>
        </p:nvSpPr>
        <p:spPr>
          <a:xfrm>
            <a:off x="4480560" y="1828800"/>
            <a:ext cx="3611880" cy="1920240"/>
          </a:xfrm>
          <a:prstGeom prst="roundRect">
            <a:avLst>
              <a:gd name="adj" fmla="val 3810"/>
            </a:avLst>
          </a:prstGeom>
          <a:solidFill>
            <a:srgbClr val="12414A"/>
          </a:solidFill>
          <a:ln w="9525">
            <a:solidFill>
              <a:srgbClr val="00A896"/>
            </a:solidFill>
            <a:prstDash val="solid"/>
          </a:ln>
        </p:spPr>
      </p:sp>
      <p:sp>
        <p:nvSpPr>
          <p:cNvPr id="9" name="Text 7"/>
          <p:cNvSpPr/>
          <p:nvPr/>
        </p:nvSpPr>
        <p:spPr>
          <a:xfrm>
            <a:off x="4663440" y="1965960"/>
            <a:ext cx="3246120" cy="365760"/>
          </a:xfrm>
          <a:prstGeom prst="rect">
            <a:avLst/>
          </a:prstGeom>
          <a:noFill/>
          <a:ln/>
        </p:spPr>
        <p:txBody>
          <a:bodyPr wrap="square" rtlCol="0" anchor="ctr"/>
          <a:lstStyle/>
          <a:p>
            <a:pPr indent="0" marL="0">
              <a:buNone/>
            </a:pPr>
            <a:r>
              <a:rPr lang="en-US" sz="1500" b="1" dirty="0">
                <a:solidFill>
                  <a:srgbClr val="02C39A"/>
                </a:solidFill>
                <a:latin typeface="Cambria" pitchFamily="34" charset="0"/>
                <a:ea typeface="Cambria" pitchFamily="34" charset="-122"/>
                <a:cs typeface="Cambria" pitchFamily="34" charset="-120"/>
              </a:rPr>
              <a:t>Performance</a:t>
            </a:r>
            <a:endParaRPr lang="en-US" sz="1500" dirty="0"/>
          </a:p>
        </p:txBody>
      </p:sp>
      <p:sp>
        <p:nvSpPr>
          <p:cNvPr id="10" name="Text 8"/>
          <p:cNvSpPr/>
          <p:nvPr/>
        </p:nvSpPr>
        <p:spPr>
          <a:xfrm>
            <a:off x="4663440" y="2377440"/>
            <a:ext cx="3246120" cy="1234440"/>
          </a:xfrm>
          <a:prstGeom prst="rect">
            <a:avLst/>
          </a:prstGeom>
          <a:noFill/>
          <a:ln/>
        </p:spPr>
        <p:txBody>
          <a:bodyPr wrap="square" rtlCol="0" anchor="t"/>
          <a:lstStyle/>
          <a:p>
            <a:pPr indent="0" marL="0">
              <a:lnSpc>
                <a:spcPct val="120000"/>
              </a:lnSpc>
              <a:buNone/>
            </a:pPr>
            <a:r>
              <a:rPr lang="en-US" sz="1150" dirty="0">
                <a:solidFill>
                  <a:srgbClr val="E6F5F3"/>
                </a:solidFill>
                <a:latin typeface="Calibri" pitchFamily="34" charset="0"/>
                <a:ea typeface="Calibri" pitchFamily="34" charset="-122"/>
                <a:cs typeface="Calibri" pitchFamily="34" charset="-120"/>
              </a:rPr>
              <a:t>Direct, indexed SQL queries keep search, listing and reporting fast</a:t>
            </a:r>
            <a:endParaRPr lang="en-US" sz="1150" dirty="0"/>
          </a:p>
        </p:txBody>
      </p:sp>
      <p:sp>
        <p:nvSpPr>
          <p:cNvPr id="11" name="Shape 9"/>
          <p:cNvSpPr/>
          <p:nvPr/>
        </p:nvSpPr>
        <p:spPr>
          <a:xfrm>
            <a:off x="8321040" y="1828800"/>
            <a:ext cx="3611880" cy="1920240"/>
          </a:xfrm>
          <a:prstGeom prst="roundRect">
            <a:avLst>
              <a:gd name="adj" fmla="val 3810"/>
            </a:avLst>
          </a:prstGeom>
          <a:solidFill>
            <a:srgbClr val="12414A"/>
          </a:solidFill>
          <a:ln w="9525">
            <a:solidFill>
              <a:srgbClr val="00A896"/>
            </a:solidFill>
            <a:prstDash val="solid"/>
          </a:ln>
        </p:spPr>
      </p:sp>
      <p:sp>
        <p:nvSpPr>
          <p:cNvPr id="12" name="Text 10"/>
          <p:cNvSpPr/>
          <p:nvPr/>
        </p:nvSpPr>
        <p:spPr>
          <a:xfrm>
            <a:off x="8503920" y="1965960"/>
            <a:ext cx="3246120" cy="365760"/>
          </a:xfrm>
          <a:prstGeom prst="rect">
            <a:avLst/>
          </a:prstGeom>
          <a:noFill/>
          <a:ln/>
        </p:spPr>
        <p:txBody>
          <a:bodyPr wrap="square" rtlCol="0" anchor="ctr"/>
          <a:lstStyle/>
          <a:p>
            <a:pPr indent="0" marL="0">
              <a:buNone/>
            </a:pPr>
            <a:r>
              <a:rPr lang="en-US" sz="1500" b="1" dirty="0">
                <a:solidFill>
                  <a:srgbClr val="02C39A"/>
                </a:solidFill>
                <a:latin typeface="Cambria" pitchFamily="34" charset="0"/>
                <a:ea typeface="Cambria" pitchFamily="34" charset="-122"/>
                <a:cs typeface="Cambria" pitchFamily="34" charset="-120"/>
              </a:rPr>
              <a:t>Security</a:t>
            </a:r>
            <a:endParaRPr lang="en-US" sz="1500" dirty="0"/>
          </a:p>
        </p:txBody>
      </p:sp>
      <p:sp>
        <p:nvSpPr>
          <p:cNvPr id="13" name="Text 11"/>
          <p:cNvSpPr/>
          <p:nvPr/>
        </p:nvSpPr>
        <p:spPr>
          <a:xfrm>
            <a:off x="8503920" y="2377440"/>
            <a:ext cx="3246120" cy="1234440"/>
          </a:xfrm>
          <a:prstGeom prst="rect">
            <a:avLst/>
          </a:prstGeom>
          <a:noFill/>
          <a:ln/>
        </p:spPr>
        <p:txBody>
          <a:bodyPr wrap="square" rtlCol="0" anchor="t"/>
          <a:lstStyle/>
          <a:p>
            <a:pPr indent="0" marL="0">
              <a:lnSpc>
                <a:spcPct val="120000"/>
              </a:lnSpc>
              <a:buNone/>
            </a:pPr>
            <a:r>
              <a:rPr lang="en-US" sz="1150" dirty="0">
                <a:solidFill>
                  <a:srgbClr val="E6F5F3"/>
                </a:solidFill>
                <a:latin typeface="Calibri" pitchFamily="34" charset="0"/>
                <a:ea typeface="Calibri" pitchFamily="34" charset="-122"/>
                <a:cs typeface="Calibri" pitchFamily="34" charset="-120"/>
              </a:rPr>
              <a:t>Login-gated access; inputs escaped before use in SQL statements</a:t>
            </a:r>
            <a:endParaRPr lang="en-US" sz="1150" dirty="0"/>
          </a:p>
        </p:txBody>
      </p:sp>
      <p:sp>
        <p:nvSpPr>
          <p:cNvPr id="14" name="Shape 12"/>
          <p:cNvSpPr/>
          <p:nvPr/>
        </p:nvSpPr>
        <p:spPr>
          <a:xfrm>
            <a:off x="640080" y="4023360"/>
            <a:ext cx="3611880" cy="1920240"/>
          </a:xfrm>
          <a:prstGeom prst="roundRect">
            <a:avLst>
              <a:gd name="adj" fmla="val 3810"/>
            </a:avLst>
          </a:prstGeom>
          <a:solidFill>
            <a:srgbClr val="12414A"/>
          </a:solidFill>
          <a:ln w="9525">
            <a:solidFill>
              <a:srgbClr val="00A896"/>
            </a:solidFill>
            <a:prstDash val="solid"/>
          </a:ln>
        </p:spPr>
      </p:sp>
      <p:sp>
        <p:nvSpPr>
          <p:cNvPr id="15" name="Text 13"/>
          <p:cNvSpPr/>
          <p:nvPr/>
        </p:nvSpPr>
        <p:spPr>
          <a:xfrm>
            <a:off x="822960" y="4160520"/>
            <a:ext cx="3246120" cy="365760"/>
          </a:xfrm>
          <a:prstGeom prst="rect">
            <a:avLst/>
          </a:prstGeom>
          <a:noFill/>
          <a:ln/>
        </p:spPr>
        <p:txBody>
          <a:bodyPr wrap="square" rtlCol="0" anchor="ctr"/>
          <a:lstStyle/>
          <a:p>
            <a:pPr indent="0" marL="0">
              <a:buNone/>
            </a:pPr>
            <a:r>
              <a:rPr lang="en-US" sz="1500" b="1" dirty="0">
                <a:solidFill>
                  <a:srgbClr val="02C39A"/>
                </a:solidFill>
                <a:latin typeface="Cambria" pitchFamily="34" charset="0"/>
                <a:ea typeface="Cambria" pitchFamily="34" charset="-122"/>
                <a:cs typeface="Cambria" pitchFamily="34" charset="-120"/>
              </a:rPr>
              <a:t>Usability</a:t>
            </a:r>
            <a:endParaRPr lang="en-US" sz="1500" dirty="0"/>
          </a:p>
        </p:txBody>
      </p:sp>
      <p:sp>
        <p:nvSpPr>
          <p:cNvPr id="16" name="Text 14"/>
          <p:cNvSpPr/>
          <p:nvPr/>
        </p:nvSpPr>
        <p:spPr>
          <a:xfrm>
            <a:off x="822960" y="4572000"/>
            <a:ext cx="3246120" cy="1234440"/>
          </a:xfrm>
          <a:prstGeom prst="rect">
            <a:avLst/>
          </a:prstGeom>
          <a:noFill/>
          <a:ln/>
        </p:spPr>
        <p:txBody>
          <a:bodyPr wrap="square" rtlCol="0" anchor="t"/>
          <a:lstStyle/>
          <a:p>
            <a:pPr indent="0" marL="0">
              <a:lnSpc>
                <a:spcPct val="120000"/>
              </a:lnSpc>
              <a:buNone/>
            </a:pPr>
            <a:r>
              <a:rPr lang="en-US" sz="1150" dirty="0">
                <a:solidFill>
                  <a:srgbClr val="E6F5F3"/>
                </a:solidFill>
                <a:latin typeface="Calibri" pitchFamily="34" charset="0"/>
                <a:ea typeface="Calibri" pitchFamily="34" charset="-122"/>
                <a:cs typeface="Calibri" pitchFamily="34" charset="-120"/>
              </a:rPr>
              <a:t>Consistent menu-driven console UI with clear prompts &amp; messages (ui.c)</a:t>
            </a:r>
            <a:endParaRPr lang="en-US" sz="1150" dirty="0"/>
          </a:p>
        </p:txBody>
      </p:sp>
      <p:sp>
        <p:nvSpPr>
          <p:cNvPr id="17" name="Shape 15"/>
          <p:cNvSpPr/>
          <p:nvPr/>
        </p:nvSpPr>
        <p:spPr>
          <a:xfrm>
            <a:off x="4480560" y="4023360"/>
            <a:ext cx="3611880" cy="1920240"/>
          </a:xfrm>
          <a:prstGeom prst="roundRect">
            <a:avLst>
              <a:gd name="adj" fmla="val 3810"/>
            </a:avLst>
          </a:prstGeom>
          <a:solidFill>
            <a:srgbClr val="12414A"/>
          </a:solidFill>
          <a:ln w="9525">
            <a:solidFill>
              <a:srgbClr val="00A896"/>
            </a:solidFill>
            <a:prstDash val="solid"/>
          </a:ln>
        </p:spPr>
      </p:sp>
      <p:sp>
        <p:nvSpPr>
          <p:cNvPr id="18" name="Text 16"/>
          <p:cNvSpPr/>
          <p:nvPr/>
        </p:nvSpPr>
        <p:spPr>
          <a:xfrm>
            <a:off x="4663440" y="4160520"/>
            <a:ext cx="3246120" cy="365760"/>
          </a:xfrm>
          <a:prstGeom prst="rect">
            <a:avLst/>
          </a:prstGeom>
          <a:noFill/>
          <a:ln/>
        </p:spPr>
        <p:txBody>
          <a:bodyPr wrap="square" rtlCol="0" anchor="ctr"/>
          <a:lstStyle/>
          <a:p>
            <a:pPr indent="0" marL="0">
              <a:buNone/>
            </a:pPr>
            <a:r>
              <a:rPr lang="en-US" sz="1500" b="1" dirty="0">
                <a:solidFill>
                  <a:srgbClr val="02C39A"/>
                </a:solidFill>
                <a:latin typeface="Cambria" pitchFamily="34" charset="0"/>
                <a:ea typeface="Cambria" pitchFamily="34" charset="-122"/>
                <a:cs typeface="Cambria" pitchFamily="34" charset="-120"/>
              </a:rPr>
              <a:t>Portability</a:t>
            </a:r>
            <a:endParaRPr lang="en-US" sz="1500" dirty="0"/>
          </a:p>
        </p:txBody>
      </p:sp>
      <p:sp>
        <p:nvSpPr>
          <p:cNvPr id="19" name="Text 17"/>
          <p:cNvSpPr/>
          <p:nvPr/>
        </p:nvSpPr>
        <p:spPr>
          <a:xfrm>
            <a:off x="4663440" y="4572000"/>
            <a:ext cx="3246120" cy="1234440"/>
          </a:xfrm>
          <a:prstGeom prst="rect">
            <a:avLst/>
          </a:prstGeom>
          <a:noFill/>
          <a:ln/>
        </p:spPr>
        <p:txBody>
          <a:bodyPr wrap="square" rtlCol="0" anchor="t"/>
          <a:lstStyle/>
          <a:p>
            <a:pPr indent="0" marL="0">
              <a:lnSpc>
                <a:spcPct val="120000"/>
              </a:lnSpc>
              <a:buNone/>
            </a:pPr>
            <a:r>
              <a:rPr lang="en-US" sz="1150" dirty="0">
                <a:solidFill>
                  <a:srgbClr val="E6F5F3"/>
                </a:solidFill>
                <a:latin typeface="Calibri" pitchFamily="34" charset="0"/>
                <a:ea typeface="Calibri" pitchFamily="34" charset="-122"/>
                <a:cs typeface="Calibri" pitchFamily="34" charset="-120"/>
              </a:rPr>
              <a:t>Runs on Windows via Dev-C++ with MySQL Connector/C</a:t>
            </a:r>
            <a:endParaRPr lang="en-US" sz="1150" dirty="0"/>
          </a:p>
        </p:txBody>
      </p:sp>
      <p:sp>
        <p:nvSpPr>
          <p:cNvPr id="20" name="Shape 18"/>
          <p:cNvSpPr/>
          <p:nvPr/>
        </p:nvSpPr>
        <p:spPr>
          <a:xfrm>
            <a:off x="8321040" y="4023360"/>
            <a:ext cx="3611880" cy="1920240"/>
          </a:xfrm>
          <a:prstGeom prst="roundRect">
            <a:avLst>
              <a:gd name="adj" fmla="val 3810"/>
            </a:avLst>
          </a:prstGeom>
          <a:solidFill>
            <a:srgbClr val="12414A"/>
          </a:solidFill>
          <a:ln w="9525">
            <a:solidFill>
              <a:srgbClr val="00A896"/>
            </a:solidFill>
            <a:prstDash val="solid"/>
          </a:ln>
        </p:spPr>
      </p:sp>
      <p:sp>
        <p:nvSpPr>
          <p:cNvPr id="21" name="Text 19"/>
          <p:cNvSpPr/>
          <p:nvPr/>
        </p:nvSpPr>
        <p:spPr>
          <a:xfrm>
            <a:off x="8503920" y="4160520"/>
            <a:ext cx="3246120" cy="365760"/>
          </a:xfrm>
          <a:prstGeom prst="rect">
            <a:avLst/>
          </a:prstGeom>
          <a:noFill/>
          <a:ln/>
        </p:spPr>
        <p:txBody>
          <a:bodyPr wrap="square" rtlCol="0" anchor="ctr"/>
          <a:lstStyle/>
          <a:p>
            <a:pPr indent="0" marL="0">
              <a:buNone/>
            </a:pPr>
            <a:r>
              <a:rPr lang="en-US" sz="1500" b="1" dirty="0">
                <a:solidFill>
                  <a:srgbClr val="02C39A"/>
                </a:solidFill>
                <a:latin typeface="Cambria" pitchFamily="34" charset="0"/>
                <a:ea typeface="Cambria" pitchFamily="34" charset="-122"/>
                <a:cs typeface="Cambria" pitchFamily="34" charset="-120"/>
              </a:rPr>
              <a:t>Maintainability</a:t>
            </a:r>
            <a:endParaRPr lang="en-US" sz="1500" dirty="0"/>
          </a:p>
        </p:txBody>
      </p:sp>
      <p:sp>
        <p:nvSpPr>
          <p:cNvPr id="22" name="Text 20"/>
          <p:cNvSpPr/>
          <p:nvPr/>
        </p:nvSpPr>
        <p:spPr>
          <a:xfrm>
            <a:off x="8503920" y="4572000"/>
            <a:ext cx="3246120" cy="1234440"/>
          </a:xfrm>
          <a:prstGeom prst="rect">
            <a:avLst/>
          </a:prstGeom>
          <a:noFill/>
          <a:ln/>
        </p:spPr>
        <p:txBody>
          <a:bodyPr wrap="square" rtlCol="0" anchor="t"/>
          <a:lstStyle/>
          <a:p>
            <a:pPr indent="0" marL="0">
              <a:lnSpc>
                <a:spcPct val="120000"/>
              </a:lnSpc>
              <a:buNone/>
            </a:pPr>
            <a:r>
              <a:rPr lang="en-US" sz="1150" dirty="0">
                <a:solidFill>
                  <a:srgbClr val="E6F5F3"/>
                </a:solidFill>
                <a:latin typeface="Calibri" pitchFamily="34" charset="0"/>
                <a:ea typeface="Calibri" pitchFamily="34" charset="-122"/>
                <a:cs typeface="Calibri" pitchFamily="34" charset="-120"/>
              </a:rPr>
              <a:t>Modular codebase split by feature for easy debugging &amp; extension</a:t>
            </a:r>
            <a:endParaRPr lang="en-US" sz="1150" dirty="0"/>
          </a:p>
        </p:txBody>
      </p:sp>
      <p:sp>
        <p:nvSpPr>
          <p:cNvPr id="23" name="Text 21"/>
          <p:cNvSpPr/>
          <p:nvPr/>
        </p:nvSpPr>
        <p:spPr>
          <a:xfrm>
            <a:off x="457200" y="6537960"/>
            <a:ext cx="7315200" cy="274320"/>
          </a:xfrm>
          <a:prstGeom prst="rect">
            <a:avLst/>
          </a:prstGeom>
          <a:noFill/>
          <a:ln/>
        </p:spPr>
        <p:txBody>
          <a:bodyPr wrap="square" rtlCol="0" anchor="ctr"/>
          <a:lstStyle/>
          <a:p>
            <a:pPr algn="l" indent="0" marL="0">
              <a:buNone/>
            </a:pPr>
            <a:r>
              <a:rPr lang="en-US" sz="1000" dirty="0">
                <a:solidFill>
                  <a:srgbClr val="BFDCDA"/>
                </a:solidFill>
                <a:latin typeface="Calibri" pitchFamily="34" charset="0"/>
                <a:ea typeface="Calibri" pitchFamily="34" charset="-122"/>
                <a:cs typeface="Calibri" pitchFamily="34" charset="-120"/>
              </a:rPr>
              <a:t>Motherland Pharmacy Management System</a:t>
            </a:r>
            <a:endParaRPr lang="en-US" sz="1000" dirty="0"/>
          </a:p>
        </p:txBody>
      </p:sp>
      <p:sp>
        <p:nvSpPr>
          <p:cNvPr id="24" name="Text 22"/>
          <p:cNvSpPr/>
          <p:nvPr/>
        </p:nvSpPr>
        <p:spPr>
          <a:xfrm>
            <a:off x="11521440" y="6537960"/>
            <a:ext cx="457200" cy="274320"/>
          </a:xfrm>
          <a:prstGeom prst="rect">
            <a:avLst/>
          </a:prstGeom>
          <a:noFill/>
          <a:ln/>
        </p:spPr>
        <p:txBody>
          <a:bodyPr wrap="square" rtlCol="0" anchor="ctr"/>
          <a:lstStyle/>
          <a:p>
            <a:pPr algn="r" indent="0" marL="0">
              <a:buNone/>
            </a:pPr>
            <a:r>
              <a:rPr lang="en-US" sz="1000" dirty="0">
                <a:solidFill>
                  <a:srgbClr val="BFDCDA"/>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rtlCol="0" anchor="ctr"/>
          <a:lstStyle/>
          <a:p>
            <a:pPr indent="0" marL="0">
              <a:buNone/>
            </a:pPr>
            <a:r>
              <a:rPr lang="en-US" sz="1500" b="1" spc="200" kern="0" dirty="0">
                <a:solidFill>
                  <a:srgbClr val="028090"/>
                </a:solidFill>
                <a:latin typeface="Calibri" pitchFamily="34" charset="0"/>
                <a:ea typeface="Calibri" pitchFamily="34" charset="-122"/>
                <a:cs typeface="Calibri" pitchFamily="34" charset="-120"/>
              </a:rPr>
              <a:t>SECTION V</a:t>
            </a:r>
            <a:endParaRPr lang="en-US" sz="1500" dirty="0"/>
          </a:p>
        </p:txBody>
      </p:sp>
      <p:sp>
        <p:nvSpPr>
          <p:cNvPr id="3" name="Text 1"/>
          <p:cNvSpPr/>
          <p:nvPr/>
        </p:nvSpPr>
        <p:spPr>
          <a:xfrm>
            <a:off x="548640" y="685800"/>
            <a:ext cx="10972800" cy="731520"/>
          </a:xfrm>
          <a:prstGeom prst="rect">
            <a:avLst/>
          </a:prstGeom>
          <a:noFill/>
          <a:ln/>
        </p:spPr>
        <p:txBody>
          <a:bodyPr wrap="square" rtlCol="0" anchor="ctr"/>
          <a:lstStyle/>
          <a:p>
            <a:pPr indent="0" marL="0">
              <a:buNone/>
            </a:pPr>
            <a:r>
              <a:rPr lang="en-US" sz="3200" b="1" dirty="0">
                <a:solidFill>
                  <a:srgbClr val="0B2E33"/>
                </a:solidFill>
                <a:latin typeface="Cambria" pitchFamily="34" charset="0"/>
                <a:ea typeface="Cambria" pitchFamily="34" charset="-122"/>
                <a:cs typeface="Cambria" pitchFamily="34" charset="-120"/>
              </a:rPr>
              <a:t>Algorithm Design — Pseudocode</a:t>
            </a:r>
            <a:endParaRPr lang="en-US" sz="3200" dirty="0"/>
          </a:p>
        </p:txBody>
      </p:sp>
      <p:sp>
        <p:nvSpPr>
          <p:cNvPr id="4" name="Text 2"/>
          <p:cNvSpPr/>
          <p:nvPr/>
        </p:nvSpPr>
        <p:spPr>
          <a:xfrm>
            <a:off x="640080" y="1645920"/>
            <a:ext cx="10881360" cy="365760"/>
          </a:xfrm>
          <a:prstGeom prst="rect">
            <a:avLst/>
          </a:prstGeom>
          <a:noFill/>
          <a:ln/>
        </p:spPr>
        <p:txBody>
          <a:bodyPr wrap="square" rtlCol="0" anchor="ctr"/>
          <a:lstStyle/>
          <a:p>
            <a:pPr indent="0" marL="0">
              <a:buNone/>
            </a:pPr>
            <a:r>
              <a:rPr lang="en-US" sz="1400" i="1" dirty="0">
                <a:solidFill>
                  <a:srgbClr val="595959"/>
                </a:solidFill>
                <a:latin typeface="Calibri" pitchFamily="34" charset="0"/>
                <a:ea typeface="Calibri" pitchFamily="34" charset="-122"/>
                <a:cs typeface="Calibri" pitchFamily="34" charset="-120"/>
              </a:rPr>
              <a:t>Core logic of the sellMedicine() function — the pharmacy's most critical transaction:</a:t>
            </a:r>
            <a:endParaRPr lang="en-US" sz="1400" dirty="0"/>
          </a:p>
        </p:txBody>
      </p:sp>
      <p:sp>
        <p:nvSpPr>
          <p:cNvPr id="5" name="Shape 3"/>
          <p:cNvSpPr/>
          <p:nvPr/>
        </p:nvSpPr>
        <p:spPr>
          <a:xfrm>
            <a:off x="640080" y="2148840"/>
            <a:ext cx="10927080" cy="4069080"/>
          </a:xfrm>
          <a:prstGeom prst="roundRect">
            <a:avLst>
              <a:gd name="adj" fmla="val 1348"/>
            </a:avLst>
          </a:prstGeom>
          <a:solidFill>
            <a:srgbClr val="0B2E33"/>
          </a:solidFill>
          <a:ln/>
        </p:spPr>
      </p:sp>
      <p:sp>
        <p:nvSpPr>
          <p:cNvPr id="6" name="Text 4"/>
          <p:cNvSpPr/>
          <p:nvPr/>
        </p:nvSpPr>
        <p:spPr>
          <a:xfrm>
            <a:off x="914400" y="2331720"/>
            <a:ext cx="10424160" cy="3749040"/>
          </a:xfrm>
          <a:prstGeom prst="rect">
            <a:avLst/>
          </a:prstGeom>
          <a:noFill/>
          <a:ln/>
        </p:spPr>
        <p:txBody>
          <a:bodyPr wrap="square" rtlCol="0" anchor="t"/>
          <a:lstStyle/>
          <a:p>
            <a:pPr indent="0" marL="0">
              <a:lnSpc>
                <a:spcPct val="115000"/>
              </a:lnSpc>
              <a:buNone/>
            </a:pPr>
            <a:r>
              <a:rPr lang="en-US" sz="1400" dirty="0">
                <a:solidFill>
                  <a:srgbClr val="02C39A"/>
                </a:solidFill>
                <a:latin typeface="Consolas" pitchFamily="34" charset="0"/>
                <a:ea typeface="Consolas" pitchFamily="34" charset="-122"/>
                <a:cs typeface="Consolas" pitchFamily="34" charset="-120"/>
              </a:rPr>
              <a:t>BEGIN SellMedicine</a:t>
            </a:r>
            <a:endParaRPr lang="en-US" sz="1400" dirty="0"/>
          </a:p>
          <a:p>
            <a:pPr indent="0" marL="0">
              <a:lnSpc>
                <a:spcPct val="115000"/>
              </a:lnSpc>
              <a:buNone/>
            </a:pPr>
            <a:r>
              <a:rPr lang="en-US" sz="1400" dirty="0">
                <a:solidFill>
                  <a:srgbClr val="E6F5F3"/>
                </a:solidFill>
                <a:latin typeface="Consolas" pitchFamily="34" charset="0"/>
                <a:ea typeface="Consolas" pitchFamily="34" charset="-122"/>
                <a:cs typeface="Consolas" pitchFamily="34" charset="-120"/>
              </a:rPr>
              <a:t>  Select customer (or walk-in) and build a shopping cart</a:t>
            </a:r>
            <a:endParaRPr lang="en-US" sz="1400" dirty="0"/>
          </a:p>
          <a:p>
            <a:pPr indent="0" marL="0">
              <a:lnSpc>
                <a:spcPct val="115000"/>
              </a:lnSpc>
              <a:buNone/>
            </a:pPr>
            <a:r>
              <a:rPr lang="en-US" sz="1400" dirty="0">
                <a:solidFill>
                  <a:srgbClr val="E6F5F3"/>
                </a:solidFill>
                <a:latin typeface="Consolas" pitchFamily="34" charset="0"/>
                <a:ea typeface="Consolas" pitchFamily="34" charset="-122"/>
                <a:cs typeface="Consolas" pitchFamily="34" charset="-120"/>
              </a:rPr>
              <a:t>  FOR each medicine chosen:</a:t>
            </a:r>
            <a:endParaRPr lang="en-US" sz="1400" dirty="0"/>
          </a:p>
          <a:p>
            <a:pPr indent="0" marL="0">
              <a:lnSpc>
                <a:spcPct val="115000"/>
              </a:lnSpc>
              <a:buNone/>
            </a:pPr>
            <a:r>
              <a:rPr lang="en-US" sz="1400" dirty="0">
                <a:solidFill>
                  <a:srgbClr val="E6F5F3"/>
                </a:solidFill>
                <a:latin typeface="Consolas" pitchFamily="34" charset="0"/>
                <a:ea typeface="Consolas" pitchFamily="34" charset="-122"/>
                <a:cs typeface="Consolas" pitchFamily="34" charset="-120"/>
              </a:rPr>
              <a:t>     IF expired OR quantity &gt; stock THEN reject item</a:t>
            </a:r>
            <a:endParaRPr lang="en-US" sz="1400" dirty="0"/>
          </a:p>
          <a:p>
            <a:pPr indent="0" marL="0">
              <a:lnSpc>
                <a:spcPct val="115000"/>
              </a:lnSpc>
              <a:buNone/>
            </a:pPr>
            <a:r>
              <a:rPr lang="en-US" sz="1400" dirty="0">
                <a:solidFill>
                  <a:srgbClr val="E6F5F3"/>
                </a:solidFill>
                <a:latin typeface="Consolas" pitchFamily="34" charset="0"/>
                <a:ea typeface="Consolas" pitchFamily="34" charset="-122"/>
                <a:cs typeface="Consolas" pitchFamily="34" charset="-120"/>
              </a:rPr>
              <a:t>     ELSE add to cart and update grand total</a:t>
            </a:r>
            <a:endParaRPr lang="en-US" sz="1400" dirty="0"/>
          </a:p>
          <a:p>
            <a:pPr indent="0" marL="0">
              <a:lnSpc>
                <a:spcPct val="115000"/>
              </a:lnSpc>
              <a:buNone/>
            </a:pPr>
            <a:r>
              <a:rPr lang="en-US" sz="1400" dirty="0">
                <a:solidFill>
                  <a:srgbClr val="E6F5F3"/>
                </a:solidFill>
                <a:latin typeface="Consolas" pitchFamily="34" charset="0"/>
                <a:ea typeface="Consolas" pitchFamily="34" charset="-122"/>
                <a:cs typeface="Consolas" pitchFamily="34" charset="-120"/>
              </a:rPr>
              <a:t>  IF cart is empty THEN cancel sale</a:t>
            </a:r>
            <a:endParaRPr lang="en-US" sz="1400" dirty="0"/>
          </a:p>
          <a:p>
            <a:pPr indent="0" marL="0">
              <a:lnSpc>
                <a:spcPct val="115000"/>
              </a:lnSpc>
              <a:buNone/>
            </a:pPr>
            <a:r>
              <a:rPr lang="en-US" sz="1400" dirty="0">
                <a:solidFill>
                  <a:srgbClr val="E6F5F3"/>
                </a:solidFill>
                <a:latin typeface="Consolas" pitchFamily="34" charset="0"/>
                <a:ea typeface="Consolas" pitchFamily="34" charset="-122"/>
                <a:cs typeface="Consolas" pitchFamily="34" charset="-120"/>
              </a:rPr>
              <a:t>  START TRANSACTION</a:t>
            </a:r>
            <a:endParaRPr lang="en-US" sz="1400" dirty="0"/>
          </a:p>
          <a:p>
            <a:pPr indent="0" marL="0">
              <a:lnSpc>
                <a:spcPct val="115000"/>
              </a:lnSpc>
              <a:buNone/>
            </a:pPr>
            <a:r>
              <a:rPr lang="en-US" sz="1400" dirty="0">
                <a:solidFill>
                  <a:srgbClr val="E6F5F3"/>
                </a:solidFill>
                <a:latin typeface="Consolas" pitchFamily="34" charset="0"/>
                <a:ea typeface="Consolas" pitchFamily="34" charset="-122"/>
                <a:cs typeface="Consolas" pitchFamily="34" charset="-120"/>
              </a:rPr>
              <a:t>     INSERT sale header (sales)</a:t>
            </a:r>
            <a:endParaRPr lang="en-US" sz="1400" dirty="0"/>
          </a:p>
          <a:p>
            <a:pPr indent="0" marL="0">
              <a:lnSpc>
                <a:spcPct val="115000"/>
              </a:lnSpc>
              <a:buNone/>
            </a:pPr>
            <a:r>
              <a:rPr lang="en-US" sz="1400" dirty="0">
                <a:solidFill>
                  <a:srgbClr val="E6F5F3"/>
                </a:solidFill>
                <a:latin typeface="Consolas" pitchFamily="34" charset="0"/>
                <a:ea typeface="Consolas" pitchFamily="34" charset="-122"/>
                <a:cs typeface="Consolas" pitchFamily="34" charset="-120"/>
              </a:rPr>
              <a:t>     INSERT each line item (sale_items)</a:t>
            </a:r>
            <a:endParaRPr lang="en-US" sz="1400" dirty="0"/>
          </a:p>
          <a:p>
            <a:pPr indent="0" marL="0">
              <a:lnSpc>
                <a:spcPct val="115000"/>
              </a:lnSpc>
              <a:buNone/>
            </a:pPr>
            <a:r>
              <a:rPr lang="en-US" sz="1400" dirty="0">
                <a:solidFill>
                  <a:srgbClr val="E6F5F3"/>
                </a:solidFill>
                <a:latin typeface="Consolas" pitchFamily="34" charset="0"/>
                <a:ea typeface="Consolas" pitchFamily="34" charset="-122"/>
                <a:cs typeface="Consolas" pitchFamily="34" charset="-120"/>
              </a:rPr>
              <a:t>     UPDATE medicines SET quantity = quantity − sold</a:t>
            </a:r>
            <a:endParaRPr lang="en-US" sz="1400" dirty="0"/>
          </a:p>
          <a:p>
            <a:pPr indent="0" marL="0">
              <a:lnSpc>
                <a:spcPct val="115000"/>
              </a:lnSpc>
              <a:buNone/>
            </a:pPr>
            <a:r>
              <a:rPr lang="en-US" sz="1400" dirty="0">
                <a:solidFill>
                  <a:srgbClr val="E6F5F3"/>
                </a:solidFill>
                <a:latin typeface="Consolas" pitchFamily="34" charset="0"/>
                <a:ea typeface="Consolas" pitchFamily="34" charset="-122"/>
                <a:cs typeface="Consolas" pitchFamily="34" charset="-120"/>
              </a:rPr>
              <a:t>  IF all steps succeed THEN COMMIT and print receipt</a:t>
            </a:r>
            <a:endParaRPr lang="en-US" sz="1400" dirty="0"/>
          </a:p>
          <a:p>
            <a:pPr indent="0" marL="0">
              <a:lnSpc>
                <a:spcPct val="115000"/>
              </a:lnSpc>
              <a:buNone/>
            </a:pPr>
            <a:r>
              <a:rPr lang="en-US" sz="1400" dirty="0">
                <a:solidFill>
                  <a:srgbClr val="E6F5F3"/>
                </a:solidFill>
                <a:latin typeface="Consolas" pitchFamily="34" charset="0"/>
                <a:ea typeface="Consolas" pitchFamily="34" charset="-122"/>
                <a:cs typeface="Consolas" pitchFamily="34" charset="-120"/>
              </a:rPr>
              <a:t>  ELSE ROLLBACK and show error</a:t>
            </a:r>
            <a:endParaRPr lang="en-US" sz="1400" dirty="0"/>
          </a:p>
          <a:p>
            <a:pPr indent="0" marL="0">
              <a:lnSpc>
                <a:spcPct val="115000"/>
              </a:lnSpc>
              <a:buNone/>
            </a:pPr>
            <a:r>
              <a:rPr lang="en-US" sz="1400" dirty="0">
                <a:solidFill>
                  <a:srgbClr val="02C39A"/>
                </a:solidFill>
                <a:latin typeface="Consolas" pitchFamily="34" charset="0"/>
                <a:ea typeface="Consolas" pitchFamily="34" charset="-122"/>
                <a:cs typeface="Consolas" pitchFamily="34" charset="-120"/>
              </a:rPr>
              <a:t>END SellMedicine</a:t>
            </a:r>
            <a:endParaRPr lang="en-US" sz="1400" dirty="0"/>
          </a:p>
        </p:txBody>
      </p:sp>
      <p:sp>
        <p:nvSpPr>
          <p:cNvPr id="7" name="Text 5"/>
          <p:cNvSpPr/>
          <p:nvPr/>
        </p:nvSpPr>
        <p:spPr>
          <a:xfrm>
            <a:off x="457200" y="6537960"/>
            <a:ext cx="7315200" cy="274320"/>
          </a:xfrm>
          <a:prstGeom prst="rect">
            <a:avLst/>
          </a:prstGeom>
          <a:noFill/>
          <a:ln/>
        </p:spPr>
        <p:txBody>
          <a:bodyPr wrap="square" rtlCol="0" anchor="ctr"/>
          <a:lstStyle/>
          <a:p>
            <a:pPr algn="l" indent="0" marL="0">
              <a:buNone/>
            </a:pPr>
            <a:r>
              <a:rPr lang="en-US" sz="1000" dirty="0">
                <a:solidFill>
                  <a:srgbClr val="595959"/>
                </a:solidFill>
                <a:latin typeface="Calibri" pitchFamily="34" charset="0"/>
                <a:ea typeface="Calibri" pitchFamily="34" charset="-122"/>
                <a:cs typeface="Calibri" pitchFamily="34" charset="-120"/>
              </a:rPr>
              <a:t>Motherland Pharmacy Management System</a:t>
            </a:r>
            <a:endParaRPr lang="en-US" sz="1000" dirty="0"/>
          </a:p>
        </p:txBody>
      </p:sp>
      <p:sp>
        <p:nvSpPr>
          <p:cNvPr id="8" name="Text 6"/>
          <p:cNvSpPr/>
          <p:nvPr/>
        </p:nvSpPr>
        <p:spPr>
          <a:xfrm>
            <a:off x="11521440" y="6537960"/>
            <a:ext cx="45720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rtlCol="0" anchor="ctr"/>
          <a:lstStyle/>
          <a:p>
            <a:pPr indent="0" marL="0">
              <a:buNone/>
            </a:pPr>
            <a:r>
              <a:rPr lang="en-US" sz="1500" b="1" spc="200" kern="0" dirty="0">
                <a:solidFill>
                  <a:srgbClr val="028090"/>
                </a:solidFill>
                <a:latin typeface="Calibri" pitchFamily="34" charset="0"/>
                <a:ea typeface="Calibri" pitchFamily="34" charset="-122"/>
                <a:cs typeface="Calibri" pitchFamily="34" charset="-120"/>
              </a:rPr>
              <a:t>SECTION V</a:t>
            </a:r>
            <a:endParaRPr lang="en-US" sz="1500" dirty="0"/>
          </a:p>
        </p:txBody>
      </p:sp>
      <p:sp>
        <p:nvSpPr>
          <p:cNvPr id="3" name="Text 1"/>
          <p:cNvSpPr/>
          <p:nvPr/>
        </p:nvSpPr>
        <p:spPr>
          <a:xfrm>
            <a:off x="548640" y="685800"/>
            <a:ext cx="10972800" cy="731520"/>
          </a:xfrm>
          <a:prstGeom prst="rect">
            <a:avLst/>
          </a:prstGeom>
          <a:noFill/>
          <a:ln/>
        </p:spPr>
        <p:txBody>
          <a:bodyPr wrap="square" rtlCol="0" anchor="ctr"/>
          <a:lstStyle/>
          <a:p>
            <a:pPr indent="0" marL="0">
              <a:buNone/>
            </a:pPr>
            <a:r>
              <a:rPr lang="en-US" sz="3200" b="1" dirty="0">
                <a:solidFill>
                  <a:srgbClr val="0B2E33"/>
                </a:solidFill>
                <a:latin typeface="Cambria" pitchFamily="34" charset="0"/>
                <a:ea typeface="Cambria" pitchFamily="34" charset="-122"/>
                <a:cs typeface="Cambria" pitchFamily="34" charset="-120"/>
              </a:rPr>
              <a:t>Algorithm Design — Flowchart</a:t>
            </a:r>
            <a:endParaRPr lang="en-US" sz="3200" dirty="0"/>
          </a:p>
        </p:txBody>
      </p:sp>
      <p:pic>
        <p:nvPicPr>
          <p:cNvPr id="4" name="Image 0" descr="sale_flowchart_wide.png">    </p:cNvPr>
          <p:cNvPicPr>
            <a:picLocks noChangeAspect="1"/>
          </p:cNvPicPr>
          <p:nvPr/>
        </p:nvPicPr>
        <p:blipFill>
          <a:blip r:embed="rId1"/>
          <a:stretch>
            <a:fillRect/>
          </a:stretch>
        </p:blipFill>
        <p:spPr>
          <a:xfrm>
            <a:off x="457200" y="2377440"/>
            <a:ext cx="11247120" cy="1051560"/>
          </a:xfrm>
          <a:prstGeom prst="rect">
            <a:avLst/>
          </a:prstGeom>
        </p:spPr>
      </p:pic>
      <p:sp>
        <p:nvSpPr>
          <p:cNvPr id="5" name="Text 2"/>
          <p:cNvSpPr/>
          <p:nvPr/>
        </p:nvSpPr>
        <p:spPr>
          <a:xfrm>
            <a:off x="822960" y="3749040"/>
            <a:ext cx="10515600" cy="1188720"/>
          </a:xfrm>
          <a:prstGeom prst="rect">
            <a:avLst/>
          </a:prstGeom>
          <a:noFill/>
          <a:ln/>
        </p:spPr>
        <p:txBody>
          <a:bodyPr wrap="square" rtlCol="0" anchor="t"/>
          <a:lstStyle/>
          <a:p>
            <a:pPr algn="ctr" indent="0" marL="0">
              <a:lnSpc>
                <a:spcPct val="130000"/>
              </a:lnSpc>
              <a:buNone/>
            </a:pPr>
            <a:r>
              <a:rPr lang="en-US" sz="1400" dirty="0">
                <a:solidFill>
                  <a:srgbClr val="333333"/>
                </a:solidFill>
                <a:latin typeface="Calibri" pitchFamily="34" charset="0"/>
                <a:ea typeface="Calibri" pitchFamily="34" charset="-122"/>
                <a:cs typeface="Calibri" pitchFamily="34" charset="-120"/>
              </a:rPr>
              <a:t>The flowchart traces the sell-medicine process from customer/medicine selection through stock validation, cart building, and the final database transaction that commits the sale or rolls it back on failure.</a:t>
            </a:r>
            <a:endParaRPr lang="en-US" sz="1400" dirty="0"/>
          </a:p>
        </p:txBody>
      </p:sp>
      <p:sp>
        <p:nvSpPr>
          <p:cNvPr id="6" name="Text 3"/>
          <p:cNvSpPr/>
          <p:nvPr/>
        </p:nvSpPr>
        <p:spPr>
          <a:xfrm>
            <a:off x="457200" y="6537960"/>
            <a:ext cx="7315200" cy="274320"/>
          </a:xfrm>
          <a:prstGeom prst="rect">
            <a:avLst/>
          </a:prstGeom>
          <a:noFill/>
          <a:ln/>
        </p:spPr>
        <p:txBody>
          <a:bodyPr wrap="square" rtlCol="0" anchor="ctr"/>
          <a:lstStyle/>
          <a:p>
            <a:pPr algn="l" indent="0" marL="0">
              <a:buNone/>
            </a:pPr>
            <a:r>
              <a:rPr lang="en-US" sz="1000" dirty="0">
                <a:solidFill>
                  <a:srgbClr val="595959"/>
                </a:solidFill>
                <a:latin typeface="Calibri" pitchFamily="34" charset="0"/>
                <a:ea typeface="Calibri" pitchFamily="34" charset="-122"/>
                <a:cs typeface="Calibri" pitchFamily="34" charset="-120"/>
              </a:rPr>
              <a:t>Motherland Pharmacy Management System</a:t>
            </a:r>
            <a:endParaRPr lang="en-US" sz="1000" dirty="0"/>
          </a:p>
        </p:txBody>
      </p:sp>
      <p:sp>
        <p:nvSpPr>
          <p:cNvPr id="7" name="Text 4"/>
          <p:cNvSpPr/>
          <p:nvPr/>
        </p:nvSpPr>
        <p:spPr>
          <a:xfrm>
            <a:off x="11521440" y="6537960"/>
            <a:ext cx="45720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rtlCol="0" anchor="ctr"/>
          <a:lstStyle/>
          <a:p>
            <a:pPr indent="0" marL="0">
              <a:buNone/>
            </a:pPr>
            <a:r>
              <a:rPr lang="en-US" sz="1500" b="1" spc="200" kern="0" dirty="0">
                <a:solidFill>
                  <a:srgbClr val="028090"/>
                </a:solidFill>
                <a:latin typeface="Calibri" pitchFamily="34" charset="0"/>
                <a:ea typeface="Calibri" pitchFamily="34" charset="-122"/>
                <a:cs typeface="Calibri" pitchFamily="34" charset="-120"/>
              </a:rPr>
              <a:t>SECTION VI</a:t>
            </a:r>
            <a:endParaRPr lang="en-US" sz="1500" dirty="0"/>
          </a:p>
        </p:txBody>
      </p:sp>
      <p:sp>
        <p:nvSpPr>
          <p:cNvPr id="3" name="Text 1"/>
          <p:cNvSpPr/>
          <p:nvPr/>
        </p:nvSpPr>
        <p:spPr>
          <a:xfrm>
            <a:off x="548640" y="685800"/>
            <a:ext cx="10972800" cy="731520"/>
          </a:xfrm>
          <a:prstGeom prst="rect">
            <a:avLst/>
          </a:prstGeom>
          <a:noFill/>
          <a:ln/>
        </p:spPr>
        <p:txBody>
          <a:bodyPr wrap="square" rtlCol="0" anchor="ctr"/>
          <a:lstStyle/>
          <a:p>
            <a:pPr indent="0" marL="0">
              <a:buNone/>
            </a:pPr>
            <a:r>
              <a:rPr lang="en-US" sz="3200" b="1" dirty="0">
                <a:solidFill>
                  <a:srgbClr val="0B2E33"/>
                </a:solidFill>
                <a:latin typeface="Cambria" pitchFamily="34" charset="0"/>
                <a:ea typeface="Cambria" pitchFamily="34" charset="-122"/>
                <a:cs typeface="Cambria" pitchFamily="34" charset="-120"/>
              </a:rPr>
              <a:t>Database Design — ERD</a:t>
            </a:r>
            <a:endParaRPr lang="en-US" sz="3200" dirty="0"/>
          </a:p>
        </p:txBody>
      </p:sp>
      <p:pic>
        <p:nvPicPr>
          <p:cNvPr id="4" name="Image 0" descr="erd.png">    </p:cNvPr>
          <p:cNvPicPr>
            <a:picLocks noChangeAspect="1"/>
          </p:cNvPicPr>
          <p:nvPr/>
        </p:nvPicPr>
        <p:blipFill>
          <a:blip r:embed="rId1"/>
          <a:stretch>
            <a:fillRect/>
          </a:stretch>
        </p:blipFill>
        <p:spPr>
          <a:xfrm>
            <a:off x="457200" y="1600200"/>
            <a:ext cx="7863840" cy="5239512"/>
          </a:xfrm>
          <a:prstGeom prst="rect">
            <a:avLst/>
          </a:prstGeom>
        </p:spPr>
      </p:pic>
      <p:sp>
        <p:nvSpPr>
          <p:cNvPr id="5" name="Text 2"/>
          <p:cNvSpPr/>
          <p:nvPr/>
        </p:nvSpPr>
        <p:spPr>
          <a:xfrm>
            <a:off x="8549640" y="1737360"/>
            <a:ext cx="3017520" cy="320040"/>
          </a:xfrm>
          <a:prstGeom prst="rect">
            <a:avLst/>
          </a:prstGeom>
          <a:noFill/>
          <a:ln/>
        </p:spPr>
        <p:txBody>
          <a:bodyPr wrap="square" rtlCol="0" anchor="ctr"/>
          <a:lstStyle/>
          <a:p>
            <a:pPr indent="0" marL="0">
              <a:buNone/>
            </a:pPr>
            <a:r>
              <a:rPr lang="en-US" sz="1300" b="1" dirty="0">
                <a:solidFill>
                  <a:srgbClr val="028090"/>
                </a:solidFill>
                <a:latin typeface="Calibri" pitchFamily="34" charset="0"/>
                <a:ea typeface="Calibri" pitchFamily="34" charset="-122"/>
                <a:cs typeface="Calibri" pitchFamily="34" charset="-120"/>
              </a:rPr>
              <a:t>RELATIONSHIPS</a:t>
            </a:r>
            <a:endParaRPr lang="en-US" sz="1300" dirty="0"/>
          </a:p>
        </p:txBody>
      </p:sp>
      <p:sp>
        <p:nvSpPr>
          <p:cNvPr id="6" name="Text 3"/>
          <p:cNvSpPr/>
          <p:nvPr/>
        </p:nvSpPr>
        <p:spPr>
          <a:xfrm>
            <a:off x="8549640" y="2148840"/>
            <a:ext cx="3063240" cy="3200400"/>
          </a:xfrm>
          <a:prstGeom prst="rect">
            <a:avLst/>
          </a:prstGeom>
          <a:noFill/>
          <a:ln/>
        </p:spPr>
        <p:txBody>
          <a:bodyPr wrap="square" rtlCol="0" anchor="t"/>
          <a:lstStyle/>
          <a:p>
            <a:pPr marL="228600" indent="-228600">
              <a:spcAft>
                <a:spcPts val="1200"/>
              </a:spcAft>
              <a:buSzPct val="100000"/>
              <a:buChar char="●"/>
            </a:pPr>
            <a:r>
              <a:rPr lang="en-US" sz="1150" dirty="0">
                <a:solidFill>
                  <a:srgbClr val="222222"/>
                </a:solidFill>
                <a:latin typeface="Calibri" pitchFamily="34" charset="0"/>
                <a:ea typeface="Calibri" pitchFamily="34" charset="-122"/>
                <a:cs typeface="Calibri" pitchFamily="34" charset="-120"/>
              </a:rPr>
              <a:t>One user creates many sales</a:t>
            </a:r>
            <a:endParaRPr lang="en-US" sz="1150" dirty="0"/>
          </a:p>
          <a:p>
            <a:pPr marL="228600" indent="-228600">
              <a:spcAft>
                <a:spcPts val="1200"/>
              </a:spcAft>
              <a:buSzPct val="100000"/>
              <a:buChar char="●"/>
            </a:pPr>
            <a:r>
              <a:rPr lang="en-US" sz="1150" dirty="0">
                <a:solidFill>
                  <a:srgbClr val="222222"/>
                </a:solidFill>
                <a:latin typeface="Calibri" pitchFamily="34" charset="0"/>
                <a:ea typeface="Calibri" pitchFamily="34" charset="-122"/>
                <a:cs typeface="Calibri" pitchFamily="34" charset="-120"/>
              </a:rPr>
              <a:t>One customer can have many sales</a:t>
            </a:r>
            <a:endParaRPr lang="en-US" sz="1150" dirty="0"/>
          </a:p>
          <a:p>
            <a:pPr marL="228600" indent="-228600">
              <a:spcAft>
                <a:spcPts val="1200"/>
              </a:spcAft>
              <a:buSzPct val="100000"/>
              <a:buChar char="●"/>
            </a:pPr>
            <a:r>
              <a:rPr lang="en-US" sz="1150" dirty="0">
                <a:solidFill>
                  <a:srgbClr val="222222"/>
                </a:solidFill>
                <a:latin typeface="Calibri" pitchFamily="34" charset="0"/>
                <a:ea typeface="Calibri" pitchFamily="34" charset="-122"/>
                <a:cs typeface="Calibri" pitchFamily="34" charset="-120"/>
              </a:rPr>
              <a:t>One sale has many sale_items</a:t>
            </a:r>
            <a:endParaRPr lang="en-US" sz="1150" dirty="0"/>
          </a:p>
          <a:p>
            <a:pPr marL="228600" indent="-228600">
              <a:spcAft>
                <a:spcPts val="1200"/>
              </a:spcAft>
              <a:buSzPct val="100000"/>
              <a:buChar char="●"/>
            </a:pPr>
            <a:r>
              <a:rPr lang="en-US" sz="1150" dirty="0">
                <a:solidFill>
                  <a:srgbClr val="222222"/>
                </a:solidFill>
                <a:latin typeface="Calibri" pitchFamily="34" charset="0"/>
                <a:ea typeface="Calibri" pitchFamily="34" charset="-122"/>
                <a:cs typeface="Calibri" pitchFamily="34" charset="-120"/>
              </a:rPr>
              <a:t>One medicine appears in many sale_items</a:t>
            </a:r>
            <a:endParaRPr lang="en-US" sz="1150" dirty="0"/>
          </a:p>
          <a:p>
            <a:pPr marL="228600" indent="-228600">
              <a:spcAft>
                <a:spcPts val="1200"/>
              </a:spcAft>
              <a:buSzPct val="100000"/>
              <a:buChar char="●"/>
            </a:pPr>
            <a:r>
              <a:rPr lang="en-US" sz="1150" dirty="0">
                <a:solidFill>
                  <a:srgbClr val="222222"/>
                </a:solidFill>
                <a:latin typeface="Calibri" pitchFamily="34" charset="0"/>
                <a:ea typeface="Calibri" pitchFamily="34" charset="-122"/>
                <a:cs typeface="Calibri" pitchFamily="34" charset="-120"/>
              </a:rPr>
              <a:t>One supplier supplies many medicines</a:t>
            </a:r>
            <a:endParaRPr lang="en-US" sz="1150" dirty="0"/>
          </a:p>
        </p:txBody>
      </p:sp>
      <p:sp>
        <p:nvSpPr>
          <p:cNvPr id="7" name="Shape 4"/>
          <p:cNvSpPr/>
          <p:nvPr/>
        </p:nvSpPr>
        <p:spPr>
          <a:xfrm>
            <a:off x="8549640" y="5394960"/>
            <a:ext cx="3063240" cy="868680"/>
          </a:xfrm>
          <a:prstGeom prst="roundRect">
            <a:avLst>
              <a:gd name="adj" fmla="val 6316"/>
            </a:avLst>
          </a:prstGeom>
          <a:solidFill>
            <a:srgbClr val="EAF6F5"/>
          </a:solidFill>
          <a:ln/>
        </p:spPr>
      </p:sp>
      <p:sp>
        <p:nvSpPr>
          <p:cNvPr id="8" name="Text 5"/>
          <p:cNvSpPr/>
          <p:nvPr/>
        </p:nvSpPr>
        <p:spPr>
          <a:xfrm>
            <a:off x="8686800" y="5486400"/>
            <a:ext cx="2743200" cy="274320"/>
          </a:xfrm>
          <a:prstGeom prst="rect">
            <a:avLst/>
          </a:prstGeom>
          <a:noFill/>
          <a:ln/>
        </p:spPr>
        <p:txBody>
          <a:bodyPr wrap="square" rtlCol="0" anchor="ctr"/>
          <a:lstStyle/>
          <a:p>
            <a:pPr indent="0" marL="0">
              <a:buNone/>
            </a:pPr>
            <a:r>
              <a:rPr lang="en-US" sz="1200" b="1" dirty="0">
                <a:solidFill>
                  <a:srgbClr val="0B2E33"/>
                </a:solidFill>
                <a:latin typeface="Calibri" pitchFamily="34" charset="0"/>
                <a:ea typeface="Calibri" pitchFamily="34" charset="-122"/>
                <a:cs typeface="Calibri" pitchFamily="34" charset="-120"/>
              </a:rPr>
              <a:t>6 tables — pharmacy_db</a:t>
            </a:r>
            <a:endParaRPr lang="en-US" sz="1200" dirty="0"/>
          </a:p>
        </p:txBody>
      </p:sp>
      <p:sp>
        <p:nvSpPr>
          <p:cNvPr id="9" name="Text 6"/>
          <p:cNvSpPr/>
          <p:nvPr/>
        </p:nvSpPr>
        <p:spPr>
          <a:xfrm>
            <a:off x="8686800" y="5760720"/>
            <a:ext cx="2743200" cy="45720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users · medicines · suppliers · customers · sales · sale_items</a:t>
            </a:r>
            <a:endParaRPr lang="en-US" sz="1000" dirty="0"/>
          </a:p>
        </p:txBody>
      </p:sp>
      <p:sp>
        <p:nvSpPr>
          <p:cNvPr id="10" name="Text 7"/>
          <p:cNvSpPr/>
          <p:nvPr/>
        </p:nvSpPr>
        <p:spPr>
          <a:xfrm>
            <a:off x="457200" y="6537960"/>
            <a:ext cx="7315200" cy="274320"/>
          </a:xfrm>
          <a:prstGeom prst="rect">
            <a:avLst/>
          </a:prstGeom>
          <a:noFill/>
          <a:ln/>
        </p:spPr>
        <p:txBody>
          <a:bodyPr wrap="square" rtlCol="0" anchor="ctr"/>
          <a:lstStyle/>
          <a:p>
            <a:pPr algn="l" indent="0" marL="0">
              <a:buNone/>
            </a:pPr>
            <a:r>
              <a:rPr lang="en-US" sz="1000" dirty="0">
                <a:solidFill>
                  <a:srgbClr val="595959"/>
                </a:solidFill>
                <a:latin typeface="Calibri" pitchFamily="34" charset="0"/>
                <a:ea typeface="Calibri" pitchFamily="34" charset="-122"/>
                <a:cs typeface="Calibri" pitchFamily="34" charset="-120"/>
              </a:rPr>
              <a:t>Motherland Pharmacy Management System</a:t>
            </a:r>
            <a:endParaRPr lang="en-US" sz="1000" dirty="0"/>
          </a:p>
        </p:txBody>
      </p:sp>
      <p:sp>
        <p:nvSpPr>
          <p:cNvPr id="11" name="Text 8"/>
          <p:cNvSpPr/>
          <p:nvPr/>
        </p:nvSpPr>
        <p:spPr>
          <a:xfrm>
            <a:off x="11521440" y="6537960"/>
            <a:ext cx="45720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rtlCol="0" anchor="ctr"/>
          <a:lstStyle/>
          <a:p>
            <a:pPr indent="0" marL="0">
              <a:buNone/>
            </a:pPr>
            <a:r>
              <a:rPr lang="en-US" sz="1500" b="1" spc="200" kern="0" dirty="0">
                <a:solidFill>
                  <a:srgbClr val="028090"/>
                </a:solidFill>
                <a:latin typeface="Calibri" pitchFamily="34" charset="0"/>
                <a:ea typeface="Calibri" pitchFamily="34" charset="-122"/>
                <a:cs typeface="Calibri" pitchFamily="34" charset="-120"/>
              </a:rPr>
              <a:t>SECTION VII</a:t>
            </a:r>
            <a:endParaRPr lang="en-US" sz="1500" dirty="0"/>
          </a:p>
        </p:txBody>
      </p:sp>
      <p:sp>
        <p:nvSpPr>
          <p:cNvPr id="3" name="Text 1"/>
          <p:cNvSpPr/>
          <p:nvPr/>
        </p:nvSpPr>
        <p:spPr>
          <a:xfrm>
            <a:off x="548640" y="685800"/>
            <a:ext cx="10972800" cy="731520"/>
          </a:xfrm>
          <a:prstGeom prst="rect">
            <a:avLst/>
          </a:prstGeom>
          <a:noFill/>
          <a:ln/>
        </p:spPr>
        <p:txBody>
          <a:bodyPr wrap="square" rtlCol="0" anchor="ctr"/>
          <a:lstStyle/>
          <a:p>
            <a:pPr indent="0" marL="0">
              <a:buNone/>
            </a:pPr>
            <a:r>
              <a:rPr lang="en-US" sz="3200" b="1" dirty="0">
                <a:solidFill>
                  <a:srgbClr val="0B2E33"/>
                </a:solidFill>
                <a:latin typeface="Cambria" pitchFamily="34" charset="0"/>
                <a:ea typeface="Cambria" pitchFamily="34" charset="-122"/>
                <a:cs typeface="Cambria" pitchFamily="34" charset="-120"/>
              </a:rPr>
              <a:t>System Implementation</a:t>
            </a:r>
            <a:endParaRPr lang="en-US" sz="3200" dirty="0"/>
          </a:p>
        </p:txBody>
      </p:sp>
      <p:sp>
        <p:nvSpPr>
          <p:cNvPr id="4" name="Shape 2"/>
          <p:cNvSpPr/>
          <p:nvPr/>
        </p:nvSpPr>
        <p:spPr>
          <a:xfrm>
            <a:off x="548640" y="1600200"/>
            <a:ext cx="5394960" cy="4526280"/>
          </a:xfrm>
          <a:prstGeom prst="roundRect">
            <a:avLst>
              <a:gd name="adj" fmla="val 1212"/>
            </a:avLst>
          </a:prstGeom>
          <a:solidFill>
            <a:srgbClr val="EAF6F5"/>
          </a:solidFill>
          <a:ln/>
        </p:spPr>
      </p:sp>
      <p:sp>
        <p:nvSpPr>
          <p:cNvPr id="5" name="Text 3"/>
          <p:cNvSpPr/>
          <p:nvPr/>
        </p:nvSpPr>
        <p:spPr>
          <a:xfrm>
            <a:off x="777240" y="1737360"/>
            <a:ext cx="4937760" cy="320040"/>
          </a:xfrm>
          <a:prstGeom prst="rect">
            <a:avLst/>
          </a:prstGeom>
          <a:noFill/>
          <a:ln/>
        </p:spPr>
        <p:txBody>
          <a:bodyPr wrap="square" rtlCol="0" anchor="ctr"/>
          <a:lstStyle/>
          <a:p>
            <a:pPr indent="0" marL="0">
              <a:buNone/>
            </a:pPr>
            <a:r>
              <a:rPr lang="en-US" sz="1400" b="1" dirty="0">
                <a:solidFill>
                  <a:srgbClr val="0B2E33"/>
                </a:solidFill>
                <a:latin typeface="Calibri" pitchFamily="34" charset="0"/>
                <a:ea typeface="Calibri" pitchFamily="34" charset="-122"/>
                <a:cs typeface="Calibri" pitchFamily="34" charset="-120"/>
              </a:rPr>
              <a:t>Login &amp; Main Dashboard</a:t>
            </a:r>
            <a:endParaRPr lang="en-US" sz="1400" dirty="0"/>
          </a:p>
        </p:txBody>
      </p:sp>
      <p:pic>
        <p:nvPicPr>
          <p:cNvPr id="6" name="Image 0" descr="framed_login_-_dashboard.png">    </p:cNvPr>
          <p:cNvPicPr>
            <a:picLocks noChangeAspect="1"/>
          </p:cNvPicPr>
          <p:nvPr/>
        </p:nvPicPr>
        <p:blipFill>
          <a:blip r:embed="rId1"/>
          <a:stretch>
            <a:fillRect/>
          </a:stretch>
        </p:blipFill>
        <p:spPr>
          <a:xfrm>
            <a:off x="777240" y="2103120"/>
            <a:ext cx="4937760" cy="3840480"/>
          </a:xfrm>
          <a:prstGeom prst="rect">
            <a:avLst/>
          </a:prstGeom>
        </p:spPr>
      </p:pic>
      <p:sp>
        <p:nvSpPr>
          <p:cNvPr id="7" name="Shape 4"/>
          <p:cNvSpPr/>
          <p:nvPr/>
        </p:nvSpPr>
        <p:spPr>
          <a:xfrm>
            <a:off x="6172200" y="1600200"/>
            <a:ext cx="5440680" cy="4526280"/>
          </a:xfrm>
          <a:prstGeom prst="roundRect">
            <a:avLst>
              <a:gd name="adj" fmla="val 1212"/>
            </a:avLst>
          </a:prstGeom>
          <a:solidFill>
            <a:srgbClr val="EAF6F5"/>
          </a:solidFill>
          <a:ln/>
        </p:spPr>
      </p:sp>
      <p:sp>
        <p:nvSpPr>
          <p:cNvPr id="8" name="Text 5"/>
          <p:cNvSpPr/>
          <p:nvPr/>
        </p:nvSpPr>
        <p:spPr>
          <a:xfrm>
            <a:off x="6400800" y="1737360"/>
            <a:ext cx="4937760" cy="320040"/>
          </a:xfrm>
          <a:prstGeom prst="rect">
            <a:avLst/>
          </a:prstGeom>
          <a:noFill/>
          <a:ln/>
        </p:spPr>
        <p:txBody>
          <a:bodyPr wrap="square" rtlCol="0" anchor="ctr"/>
          <a:lstStyle/>
          <a:p>
            <a:pPr indent="0" marL="0">
              <a:buNone/>
            </a:pPr>
            <a:r>
              <a:rPr lang="en-US" sz="1400" b="1" dirty="0">
                <a:solidFill>
                  <a:srgbClr val="0B2E33"/>
                </a:solidFill>
                <a:latin typeface="Calibri" pitchFamily="34" charset="0"/>
                <a:ea typeface="Calibri" pitchFamily="34" charset="-122"/>
                <a:cs typeface="Calibri" pitchFamily="34" charset="-120"/>
              </a:rPr>
              <a:t>Managing Medicines (Inventory)</a:t>
            </a:r>
            <a:endParaRPr lang="en-US" sz="1400" dirty="0"/>
          </a:p>
        </p:txBody>
      </p:sp>
      <p:pic>
        <p:nvPicPr>
          <p:cNvPr id="9" name="Image 1" descr="framed_adding_medecine.png">    </p:cNvPr>
          <p:cNvPicPr>
            <a:picLocks noChangeAspect="1"/>
          </p:cNvPicPr>
          <p:nvPr/>
        </p:nvPicPr>
        <p:blipFill>
          <a:blip r:embed="rId2"/>
          <a:stretch>
            <a:fillRect/>
          </a:stretch>
        </p:blipFill>
        <p:spPr>
          <a:xfrm>
            <a:off x="6400800" y="2103120"/>
            <a:ext cx="4983480" cy="3977640"/>
          </a:xfrm>
          <a:prstGeom prst="rect">
            <a:avLst/>
          </a:prstGeom>
        </p:spPr>
      </p:pic>
      <p:sp>
        <p:nvSpPr>
          <p:cNvPr id="10" name="Text 6"/>
          <p:cNvSpPr/>
          <p:nvPr/>
        </p:nvSpPr>
        <p:spPr>
          <a:xfrm>
            <a:off x="457200" y="6537960"/>
            <a:ext cx="7315200" cy="274320"/>
          </a:xfrm>
          <a:prstGeom prst="rect">
            <a:avLst/>
          </a:prstGeom>
          <a:noFill/>
          <a:ln/>
        </p:spPr>
        <p:txBody>
          <a:bodyPr wrap="square" rtlCol="0" anchor="ctr"/>
          <a:lstStyle/>
          <a:p>
            <a:pPr algn="l" indent="0" marL="0">
              <a:buNone/>
            </a:pPr>
            <a:r>
              <a:rPr lang="en-US" sz="1000" dirty="0">
                <a:solidFill>
                  <a:srgbClr val="595959"/>
                </a:solidFill>
                <a:latin typeface="Calibri" pitchFamily="34" charset="0"/>
                <a:ea typeface="Calibri" pitchFamily="34" charset="-122"/>
                <a:cs typeface="Calibri" pitchFamily="34" charset="-120"/>
              </a:rPr>
              <a:t>Motherland Pharmacy Management System</a:t>
            </a:r>
            <a:endParaRPr lang="en-US" sz="1000" dirty="0"/>
          </a:p>
        </p:txBody>
      </p:sp>
      <p:sp>
        <p:nvSpPr>
          <p:cNvPr id="11" name="Text 7"/>
          <p:cNvSpPr/>
          <p:nvPr/>
        </p:nvSpPr>
        <p:spPr>
          <a:xfrm>
            <a:off x="11521440" y="6537960"/>
            <a:ext cx="45720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rtlCol="0" anchor="ctr"/>
          <a:lstStyle/>
          <a:p>
            <a:pPr indent="0" marL="0">
              <a:buNone/>
            </a:pPr>
            <a:r>
              <a:rPr lang="en-US" sz="1500" b="1" spc="200" kern="0" dirty="0">
                <a:solidFill>
                  <a:srgbClr val="028090"/>
                </a:solidFill>
                <a:latin typeface="Calibri" pitchFamily="34" charset="0"/>
                <a:ea typeface="Calibri" pitchFamily="34" charset="-122"/>
                <a:cs typeface="Calibri" pitchFamily="34" charset="-120"/>
              </a:rPr>
              <a:t>SECTION VII</a:t>
            </a:r>
            <a:endParaRPr lang="en-US" sz="1500" dirty="0"/>
          </a:p>
        </p:txBody>
      </p:sp>
      <p:sp>
        <p:nvSpPr>
          <p:cNvPr id="3" name="Text 1"/>
          <p:cNvSpPr/>
          <p:nvPr/>
        </p:nvSpPr>
        <p:spPr>
          <a:xfrm>
            <a:off x="548640" y="685800"/>
            <a:ext cx="10972800" cy="731520"/>
          </a:xfrm>
          <a:prstGeom prst="rect">
            <a:avLst/>
          </a:prstGeom>
          <a:noFill/>
          <a:ln/>
        </p:spPr>
        <p:txBody>
          <a:bodyPr wrap="square" rtlCol="0" anchor="ctr"/>
          <a:lstStyle/>
          <a:p>
            <a:pPr indent="0" marL="0">
              <a:buNone/>
            </a:pPr>
            <a:r>
              <a:rPr lang="en-US" sz="3200" b="1" dirty="0">
                <a:solidFill>
                  <a:srgbClr val="0B2E33"/>
                </a:solidFill>
                <a:latin typeface="Cambria" pitchFamily="34" charset="0"/>
                <a:ea typeface="Cambria" pitchFamily="34" charset="-122"/>
                <a:cs typeface="Cambria" pitchFamily="34" charset="-120"/>
              </a:rPr>
              <a:t>System Implementation (cont'd)</a:t>
            </a:r>
            <a:endParaRPr lang="en-US" sz="3200" dirty="0"/>
          </a:p>
        </p:txBody>
      </p:sp>
      <p:sp>
        <p:nvSpPr>
          <p:cNvPr id="4" name="Shape 2"/>
          <p:cNvSpPr/>
          <p:nvPr/>
        </p:nvSpPr>
        <p:spPr>
          <a:xfrm>
            <a:off x="548640" y="1600200"/>
            <a:ext cx="5394960" cy="4526280"/>
          </a:xfrm>
          <a:prstGeom prst="roundRect">
            <a:avLst>
              <a:gd name="adj" fmla="val 1212"/>
            </a:avLst>
          </a:prstGeom>
          <a:solidFill>
            <a:srgbClr val="EAF6F5"/>
          </a:solidFill>
          <a:ln/>
        </p:spPr>
      </p:sp>
      <p:sp>
        <p:nvSpPr>
          <p:cNvPr id="5" name="Text 3"/>
          <p:cNvSpPr/>
          <p:nvPr/>
        </p:nvSpPr>
        <p:spPr>
          <a:xfrm>
            <a:off x="777240" y="1737360"/>
            <a:ext cx="4937760" cy="320040"/>
          </a:xfrm>
          <a:prstGeom prst="rect">
            <a:avLst/>
          </a:prstGeom>
          <a:noFill/>
          <a:ln/>
        </p:spPr>
        <p:txBody>
          <a:bodyPr wrap="square" rtlCol="0" anchor="ctr"/>
          <a:lstStyle/>
          <a:p>
            <a:pPr indent="0" marL="0">
              <a:buNone/>
            </a:pPr>
            <a:r>
              <a:rPr lang="en-US" sz="1400" b="1" dirty="0">
                <a:solidFill>
                  <a:srgbClr val="0B2E33"/>
                </a:solidFill>
                <a:latin typeface="Calibri" pitchFamily="34" charset="0"/>
                <a:ea typeface="Calibri" pitchFamily="34" charset="-122"/>
                <a:cs typeface="Calibri" pitchFamily="34" charset="-120"/>
              </a:rPr>
              <a:t>Selling Medicine</a:t>
            </a:r>
            <a:endParaRPr lang="en-US" sz="1400" dirty="0"/>
          </a:p>
        </p:txBody>
      </p:sp>
      <p:pic>
        <p:nvPicPr>
          <p:cNvPr id="6" name="Image 0" descr="framed_add_sale.png">    </p:cNvPr>
          <p:cNvPicPr>
            <a:picLocks noChangeAspect="1"/>
          </p:cNvPicPr>
          <p:nvPr/>
        </p:nvPicPr>
        <p:blipFill>
          <a:blip r:embed="rId1"/>
          <a:stretch>
            <a:fillRect/>
          </a:stretch>
        </p:blipFill>
        <p:spPr>
          <a:xfrm>
            <a:off x="777240" y="2103120"/>
            <a:ext cx="4937760" cy="3145536"/>
          </a:xfrm>
          <a:prstGeom prst="rect">
            <a:avLst/>
          </a:prstGeom>
        </p:spPr>
      </p:pic>
      <p:sp>
        <p:nvSpPr>
          <p:cNvPr id="7" name="Shape 4"/>
          <p:cNvSpPr/>
          <p:nvPr/>
        </p:nvSpPr>
        <p:spPr>
          <a:xfrm>
            <a:off x="6172200" y="1600200"/>
            <a:ext cx="5440680" cy="4526280"/>
          </a:xfrm>
          <a:prstGeom prst="roundRect">
            <a:avLst>
              <a:gd name="adj" fmla="val 1212"/>
            </a:avLst>
          </a:prstGeom>
          <a:solidFill>
            <a:srgbClr val="EAF6F5"/>
          </a:solidFill>
          <a:ln/>
        </p:spPr>
      </p:sp>
      <p:sp>
        <p:nvSpPr>
          <p:cNvPr id="8" name="Text 5"/>
          <p:cNvSpPr/>
          <p:nvPr/>
        </p:nvSpPr>
        <p:spPr>
          <a:xfrm>
            <a:off x="6400800" y="1737360"/>
            <a:ext cx="4937760" cy="320040"/>
          </a:xfrm>
          <a:prstGeom prst="rect">
            <a:avLst/>
          </a:prstGeom>
          <a:noFill/>
          <a:ln/>
        </p:spPr>
        <p:txBody>
          <a:bodyPr wrap="square" rtlCol="0" anchor="ctr"/>
          <a:lstStyle/>
          <a:p>
            <a:pPr indent="0" marL="0">
              <a:buNone/>
            </a:pPr>
            <a:r>
              <a:rPr lang="en-US" sz="1400" b="1" dirty="0">
                <a:solidFill>
                  <a:srgbClr val="0B2E33"/>
                </a:solidFill>
                <a:latin typeface="Calibri" pitchFamily="34" charset="0"/>
                <a:ea typeface="Calibri" pitchFamily="34" charset="-122"/>
                <a:cs typeface="Calibri" pitchFamily="34" charset="-120"/>
              </a:rPr>
              <a:t>Logging Out</a:t>
            </a:r>
            <a:endParaRPr lang="en-US" sz="1400" dirty="0"/>
          </a:p>
        </p:txBody>
      </p:sp>
      <p:pic>
        <p:nvPicPr>
          <p:cNvPr id="9" name="Image 1" descr="framed_logged_out_succesfully.png">    </p:cNvPr>
          <p:cNvPicPr>
            <a:picLocks noChangeAspect="1"/>
          </p:cNvPicPr>
          <p:nvPr/>
        </p:nvPicPr>
        <p:blipFill>
          <a:blip r:embed="rId2"/>
          <a:stretch>
            <a:fillRect/>
          </a:stretch>
        </p:blipFill>
        <p:spPr>
          <a:xfrm>
            <a:off x="6400800" y="2103120"/>
            <a:ext cx="4983480" cy="3840480"/>
          </a:xfrm>
          <a:prstGeom prst="rect">
            <a:avLst/>
          </a:prstGeom>
        </p:spPr>
      </p:pic>
      <p:sp>
        <p:nvSpPr>
          <p:cNvPr id="10" name="Text 6"/>
          <p:cNvSpPr/>
          <p:nvPr/>
        </p:nvSpPr>
        <p:spPr>
          <a:xfrm>
            <a:off x="457200" y="6537960"/>
            <a:ext cx="7315200" cy="274320"/>
          </a:xfrm>
          <a:prstGeom prst="rect">
            <a:avLst/>
          </a:prstGeom>
          <a:noFill/>
          <a:ln/>
        </p:spPr>
        <p:txBody>
          <a:bodyPr wrap="square" rtlCol="0" anchor="ctr"/>
          <a:lstStyle/>
          <a:p>
            <a:pPr algn="l" indent="0" marL="0">
              <a:buNone/>
            </a:pPr>
            <a:r>
              <a:rPr lang="en-US" sz="1000" dirty="0">
                <a:solidFill>
                  <a:srgbClr val="595959"/>
                </a:solidFill>
                <a:latin typeface="Calibri" pitchFamily="34" charset="0"/>
                <a:ea typeface="Calibri" pitchFamily="34" charset="-122"/>
                <a:cs typeface="Calibri" pitchFamily="34" charset="-120"/>
              </a:rPr>
              <a:t>Motherland Pharmacy Management System</a:t>
            </a:r>
            <a:endParaRPr lang="en-US" sz="1000" dirty="0"/>
          </a:p>
        </p:txBody>
      </p:sp>
      <p:sp>
        <p:nvSpPr>
          <p:cNvPr id="11" name="Text 7"/>
          <p:cNvSpPr/>
          <p:nvPr/>
        </p:nvSpPr>
        <p:spPr>
          <a:xfrm>
            <a:off x="11521440" y="6537960"/>
            <a:ext cx="45720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2E33"/>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02C39A"/>
          </a:solidFill>
          <a:ln/>
        </p:spPr>
      </p:sp>
      <p:sp>
        <p:nvSpPr>
          <p:cNvPr id="3" name="Text 1"/>
          <p:cNvSpPr/>
          <p:nvPr/>
        </p:nvSpPr>
        <p:spPr>
          <a:xfrm>
            <a:off x="548640" y="365760"/>
            <a:ext cx="7315200" cy="365760"/>
          </a:xfrm>
          <a:prstGeom prst="rect">
            <a:avLst/>
          </a:prstGeom>
          <a:noFill/>
          <a:ln/>
        </p:spPr>
        <p:txBody>
          <a:bodyPr wrap="square" rtlCol="0" anchor="ctr"/>
          <a:lstStyle/>
          <a:p>
            <a:pPr indent="0" marL="0">
              <a:buNone/>
            </a:pPr>
            <a:r>
              <a:rPr lang="en-US" sz="1500" b="1" spc="200" kern="0" dirty="0">
                <a:solidFill>
                  <a:srgbClr val="00A896"/>
                </a:solidFill>
                <a:latin typeface="Calibri" pitchFamily="34" charset="0"/>
                <a:ea typeface="Calibri" pitchFamily="34" charset="-122"/>
                <a:cs typeface="Calibri" pitchFamily="34" charset="-120"/>
              </a:rPr>
              <a:t>SECTION VIII</a:t>
            </a:r>
            <a:endParaRPr lang="en-US" sz="1500" dirty="0"/>
          </a:p>
        </p:txBody>
      </p:sp>
      <p:sp>
        <p:nvSpPr>
          <p:cNvPr id="4" name="Text 2"/>
          <p:cNvSpPr/>
          <p:nvPr/>
        </p:nvSpPr>
        <p:spPr>
          <a:xfrm>
            <a:off x="548640" y="685800"/>
            <a:ext cx="10972800" cy="73152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Conclusion</a:t>
            </a:r>
            <a:endParaRPr lang="en-US" sz="3200" dirty="0"/>
          </a:p>
        </p:txBody>
      </p:sp>
      <p:sp>
        <p:nvSpPr>
          <p:cNvPr id="5" name="Text 3"/>
          <p:cNvSpPr/>
          <p:nvPr/>
        </p:nvSpPr>
        <p:spPr>
          <a:xfrm>
            <a:off x="640080" y="1920240"/>
            <a:ext cx="10881360" cy="1920240"/>
          </a:xfrm>
          <a:prstGeom prst="rect">
            <a:avLst/>
          </a:prstGeom>
          <a:noFill/>
          <a:ln/>
        </p:spPr>
        <p:txBody>
          <a:bodyPr wrap="square" rtlCol="0" anchor="t"/>
          <a:lstStyle/>
          <a:p>
            <a:pPr indent="0" marL="0">
              <a:lnSpc>
                <a:spcPct val="135000"/>
              </a:lnSpc>
              <a:buNone/>
            </a:pPr>
            <a:r>
              <a:rPr lang="en-US" sz="1600" dirty="0">
                <a:solidFill>
                  <a:srgbClr val="E6F5F3"/>
                </a:solidFill>
                <a:latin typeface="Calibri" pitchFamily="34" charset="0"/>
                <a:ea typeface="Calibri" pitchFamily="34" charset="-122"/>
                <a:cs typeface="Calibri" pitchFamily="34" charset="-120"/>
              </a:rPr>
              <a:t>The Motherland Pharmacy Management System successfully demonstrates a complete, working solution to the operational problems faced by the pharmacy. Built in C with a MySQL backend and run through Dev-C++, it provides secure staff login, full inventory management, transactional sales processing that automatically updates stock and blocks expired medicine, supplier and customer record keeping, and a wide range of operational reports.</a:t>
            </a:r>
            <a:endParaRPr lang="en-US" sz="1600" dirty="0"/>
          </a:p>
        </p:txBody>
      </p:sp>
      <p:sp>
        <p:nvSpPr>
          <p:cNvPr id="6" name="Text 4"/>
          <p:cNvSpPr/>
          <p:nvPr/>
        </p:nvSpPr>
        <p:spPr>
          <a:xfrm>
            <a:off x="640080" y="3931920"/>
            <a:ext cx="10881360" cy="1645920"/>
          </a:xfrm>
          <a:prstGeom prst="rect">
            <a:avLst/>
          </a:prstGeom>
          <a:noFill/>
          <a:ln/>
        </p:spPr>
        <p:txBody>
          <a:bodyPr wrap="square" rtlCol="0" anchor="t"/>
          <a:lstStyle/>
          <a:p>
            <a:pPr indent="0" marL="0">
              <a:lnSpc>
                <a:spcPct val="135000"/>
              </a:lnSpc>
              <a:buNone/>
            </a:pPr>
            <a:r>
              <a:rPr lang="en-US" sz="1600" i="1" dirty="0">
                <a:solidFill>
                  <a:srgbClr val="02C39A"/>
                </a:solidFill>
                <a:latin typeface="Calibri" pitchFamily="34" charset="0"/>
                <a:ea typeface="Calibri" pitchFamily="34" charset="-122"/>
                <a:cs typeface="Calibri" pitchFamily="34" charset="-120"/>
              </a:rPr>
              <a:t>Testing of the compiled application confirmed that all major modules — authentication, medicine management, sales, and reporting — function correctly and update the pharmacy_db database consistently, achieving both the general and specific objectives of the project.</a:t>
            </a:r>
            <a:endParaRPr lang="en-US" sz="1600" dirty="0"/>
          </a:p>
        </p:txBody>
      </p:sp>
      <p:sp>
        <p:nvSpPr>
          <p:cNvPr id="7" name="Text 5"/>
          <p:cNvSpPr/>
          <p:nvPr/>
        </p:nvSpPr>
        <p:spPr>
          <a:xfrm>
            <a:off x="457200" y="6537960"/>
            <a:ext cx="7315200" cy="274320"/>
          </a:xfrm>
          <a:prstGeom prst="rect">
            <a:avLst/>
          </a:prstGeom>
          <a:noFill/>
          <a:ln/>
        </p:spPr>
        <p:txBody>
          <a:bodyPr wrap="square" rtlCol="0" anchor="ctr"/>
          <a:lstStyle/>
          <a:p>
            <a:pPr algn="l" indent="0" marL="0">
              <a:buNone/>
            </a:pPr>
            <a:r>
              <a:rPr lang="en-US" sz="1000" dirty="0">
                <a:solidFill>
                  <a:srgbClr val="BFDCDA"/>
                </a:solidFill>
                <a:latin typeface="Calibri" pitchFamily="34" charset="0"/>
                <a:ea typeface="Calibri" pitchFamily="34" charset="-122"/>
                <a:cs typeface="Calibri" pitchFamily="34" charset="-120"/>
              </a:rPr>
              <a:t>Motherland Pharmacy Management System</a:t>
            </a:r>
            <a:endParaRPr lang="en-US" sz="1000" dirty="0"/>
          </a:p>
        </p:txBody>
      </p:sp>
      <p:sp>
        <p:nvSpPr>
          <p:cNvPr id="8" name="Text 6"/>
          <p:cNvSpPr/>
          <p:nvPr/>
        </p:nvSpPr>
        <p:spPr>
          <a:xfrm>
            <a:off x="11521440" y="6537960"/>
            <a:ext cx="457200" cy="274320"/>
          </a:xfrm>
          <a:prstGeom prst="rect">
            <a:avLst/>
          </a:prstGeom>
          <a:noFill/>
          <a:ln/>
        </p:spPr>
        <p:txBody>
          <a:bodyPr wrap="square" rtlCol="0" anchor="ctr"/>
          <a:lstStyle/>
          <a:p>
            <a:pPr algn="r" indent="0" marL="0">
              <a:buNone/>
            </a:pPr>
            <a:r>
              <a:rPr lang="en-US" sz="1000" dirty="0">
                <a:solidFill>
                  <a:srgbClr val="BFDCDA"/>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rtlCol="0" anchor="ctr"/>
          <a:lstStyle/>
          <a:p>
            <a:pPr indent="0" marL="0">
              <a:buNone/>
            </a:pPr>
            <a:r>
              <a:rPr lang="en-US" sz="1500" b="1" spc="200" kern="0" dirty="0">
                <a:solidFill>
                  <a:srgbClr val="028090"/>
                </a:solidFill>
                <a:latin typeface="Calibri" pitchFamily="34" charset="0"/>
                <a:ea typeface="Calibri" pitchFamily="34" charset="-122"/>
                <a:cs typeface="Calibri" pitchFamily="34" charset="-120"/>
              </a:rPr>
              <a:t>SECTION VIII</a:t>
            </a:r>
            <a:endParaRPr lang="en-US" sz="1500" dirty="0"/>
          </a:p>
        </p:txBody>
      </p:sp>
      <p:sp>
        <p:nvSpPr>
          <p:cNvPr id="3" name="Text 1"/>
          <p:cNvSpPr/>
          <p:nvPr/>
        </p:nvSpPr>
        <p:spPr>
          <a:xfrm>
            <a:off x="548640" y="685800"/>
            <a:ext cx="10972800" cy="731520"/>
          </a:xfrm>
          <a:prstGeom prst="rect">
            <a:avLst/>
          </a:prstGeom>
          <a:noFill/>
          <a:ln/>
        </p:spPr>
        <p:txBody>
          <a:bodyPr wrap="square" rtlCol="0" anchor="ctr"/>
          <a:lstStyle/>
          <a:p>
            <a:pPr indent="0" marL="0">
              <a:buNone/>
            </a:pPr>
            <a:r>
              <a:rPr lang="en-US" sz="3200" b="1" dirty="0">
                <a:solidFill>
                  <a:srgbClr val="0B2E33"/>
                </a:solidFill>
                <a:latin typeface="Cambria" pitchFamily="34" charset="0"/>
                <a:ea typeface="Cambria" pitchFamily="34" charset="-122"/>
                <a:cs typeface="Cambria" pitchFamily="34" charset="-120"/>
              </a:rPr>
              <a:t>Recommendations</a:t>
            </a:r>
            <a:endParaRPr lang="en-US" sz="3200" dirty="0"/>
          </a:p>
        </p:txBody>
      </p:sp>
      <p:sp>
        <p:nvSpPr>
          <p:cNvPr id="4" name="Shape 2"/>
          <p:cNvSpPr/>
          <p:nvPr/>
        </p:nvSpPr>
        <p:spPr>
          <a:xfrm>
            <a:off x="640080" y="1783080"/>
            <a:ext cx="548640" cy="548640"/>
          </a:xfrm>
          <a:prstGeom prst="roundRect">
            <a:avLst>
              <a:gd name="adj" fmla="val 83333"/>
            </a:avLst>
          </a:prstGeom>
          <a:solidFill>
            <a:srgbClr val="028090"/>
          </a:solidFill>
          <a:ln/>
        </p:spPr>
      </p:sp>
      <p:sp>
        <p:nvSpPr>
          <p:cNvPr id="5" name="Text 3"/>
          <p:cNvSpPr/>
          <p:nvPr/>
        </p:nvSpPr>
        <p:spPr>
          <a:xfrm>
            <a:off x="640080" y="1783080"/>
            <a:ext cx="548640" cy="54864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6" name="Shape 4"/>
          <p:cNvSpPr/>
          <p:nvPr/>
        </p:nvSpPr>
        <p:spPr>
          <a:xfrm>
            <a:off x="1371600" y="1810512"/>
            <a:ext cx="10195560" cy="685800"/>
          </a:xfrm>
          <a:prstGeom prst="rect">
            <a:avLst/>
          </a:prstGeom>
          <a:solidFill>
            <a:srgbClr val="EAF6F5"/>
          </a:solidFill>
          <a:ln/>
        </p:spPr>
      </p:sp>
      <p:sp>
        <p:nvSpPr>
          <p:cNvPr id="7" name="Text 5"/>
          <p:cNvSpPr/>
          <p:nvPr/>
        </p:nvSpPr>
        <p:spPr>
          <a:xfrm>
            <a:off x="1554480" y="1810512"/>
            <a:ext cx="2834640" cy="685800"/>
          </a:xfrm>
          <a:prstGeom prst="rect">
            <a:avLst/>
          </a:prstGeom>
          <a:noFill/>
          <a:ln/>
        </p:spPr>
        <p:txBody>
          <a:bodyPr wrap="square" rtlCol="0" anchor="ctr"/>
          <a:lstStyle/>
          <a:p>
            <a:pPr indent="0" marL="0">
              <a:buNone/>
            </a:pPr>
            <a:r>
              <a:rPr lang="en-US" sz="1350" b="1" dirty="0">
                <a:solidFill>
                  <a:srgbClr val="0B2E33"/>
                </a:solidFill>
                <a:latin typeface="Calibri" pitchFamily="34" charset="0"/>
                <a:ea typeface="Calibri" pitchFamily="34" charset="-122"/>
                <a:cs typeface="Calibri" pitchFamily="34" charset="-120"/>
              </a:rPr>
              <a:t>Strengthen Security</a:t>
            </a:r>
            <a:endParaRPr lang="en-US" sz="1350" dirty="0"/>
          </a:p>
        </p:txBody>
      </p:sp>
      <p:sp>
        <p:nvSpPr>
          <p:cNvPr id="8" name="Text 6"/>
          <p:cNvSpPr/>
          <p:nvPr/>
        </p:nvSpPr>
        <p:spPr>
          <a:xfrm>
            <a:off x="4480560" y="1810512"/>
            <a:ext cx="6949440" cy="685800"/>
          </a:xfrm>
          <a:prstGeom prst="rect">
            <a:avLst/>
          </a:prstGeom>
          <a:noFill/>
          <a:ln/>
        </p:spPr>
        <p:txBody>
          <a:bodyPr wrap="square" rtlCol="0" anchor="ctr"/>
          <a:lstStyle/>
          <a:p>
            <a:pPr indent="0" marL="0">
              <a:buNone/>
            </a:pPr>
            <a:r>
              <a:rPr lang="en-US" sz="1250" dirty="0">
                <a:solidFill>
                  <a:srgbClr val="333333"/>
                </a:solidFill>
                <a:latin typeface="Calibri" pitchFamily="34" charset="0"/>
                <a:ea typeface="Calibri" pitchFamily="34" charset="-122"/>
                <a:cs typeface="Calibri" pitchFamily="34" charset="-120"/>
              </a:rPr>
              <a:t>Hash passwords (e.g. bcrypt) and use prepared/parameterised SQL statements throughout</a:t>
            </a:r>
            <a:endParaRPr lang="en-US" sz="1250" dirty="0"/>
          </a:p>
        </p:txBody>
      </p:sp>
      <p:sp>
        <p:nvSpPr>
          <p:cNvPr id="9" name="Shape 7"/>
          <p:cNvSpPr/>
          <p:nvPr/>
        </p:nvSpPr>
        <p:spPr>
          <a:xfrm>
            <a:off x="640080" y="2651760"/>
            <a:ext cx="548640" cy="548640"/>
          </a:xfrm>
          <a:prstGeom prst="roundRect">
            <a:avLst>
              <a:gd name="adj" fmla="val 83333"/>
            </a:avLst>
          </a:prstGeom>
          <a:solidFill>
            <a:srgbClr val="028090"/>
          </a:solidFill>
          <a:ln/>
        </p:spPr>
      </p:sp>
      <p:sp>
        <p:nvSpPr>
          <p:cNvPr id="10" name="Text 8"/>
          <p:cNvSpPr/>
          <p:nvPr/>
        </p:nvSpPr>
        <p:spPr>
          <a:xfrm>
            <a:off x="640080" y="2651760"/>
            <a:ext cx="548640" cy="54864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1" name="Shape 9"/>
          <p:cNvSpPr/>
          <p:nvPr/>
        </p:nvSpPr>
        <p:spPr>
          <a:xfrm>
            <a:off x="1371600" y="2679192"/>
            <a:ext cx="10195560" cy="685800"/>
          </a:xfrm>
          <a:prstGeom prst="rect">
            <a:avLst/>
          </a:prstGeom>
          <a:solidFill>
            <a:srgbClr val="EAF6F5"/>
          </a:solidFill>
          <a:ln/>
        </p:spPr>
      </p:sp>
      <p:sp>
        <p:nvSpPr>
          <p:cNvPr id="12" name="Text 10"/>
          <p:cNvSpPr/>
          <p:nvPr/>
        </p:nvSpPr>
        <p:spPr>
          <a:xfrm>
            <a:off x="1554480" y="2679192"/>
            <a:ext cx="2834640" cy="685800"/>
          </a:xfrm>
          <a:prstGeom prst="rect">
            <a:avLst/>
          </a:prstGeom>
          <a:noFill/>
          <a:ln/>
        </p:spPr>
        <p:txBody>
          <a:bodyPr wrap="square" rtlCol="0" anchor="ctr"/>
          <a:lstStyle/>
          <a:p>
            <a:pPr indent="0" marL="0">
              <a:buNone/>
            </a:pPr>
            <a:r>
              <a:rPr lang="en-US" sz="1350" b="1" dirty="0">
                <a:solidFill>
                  <a:srgbClr val="0B2E33"/>
                </a:solidFill>
                <a:latin typeface="Calibri" pitchFamily="34" charset="0"/>
                <a:ea typeface="Calibri" pitchFamily="34" charset="-122"/>
                <a:cs typeface="Calibri" pitchFamily="34" charset="-120"/>
              </a:rPr>
              <a:t>Backup &amp; Export</a:t>
            </a:r>
            <a:endParaRPr lang="en-US" sz="1350" dirty="0"/>
          </a:p>
        </p:txBody>
      </p:sp>
      <p:sp>
        <p:nvSpPr>
          <p:cNvPr id="13" name="Text 11"/>
          <p:cNvSpPr/>
          <p:nvPr/>
        </p:nvSpPr>
        <p:spPr>
          <a:xfrm>
            <a:off x="4480560" y="2679192"/>
            <a:ext cx="6949440" cy="685800"/>
          </a:xfrm>
          <a:prstGeom prst="rect">
            <a:avLst/>
          </a:prstGeom>
          <a:noFill/>
          <a:ln/>
        </p:spPr>
        <p:txBody>
          <a:bodyPr wrap="square" rtlCol="0" anchor="ctr"/>
          <a:lstStyle/>
          <a:p>
            <a:pPr indent="0" marL="0">
              <a:buNone/>
            </a:pPr>
            <a:r>
              <a:rPr lang="en-US" sz="1250" dirty="0">
                <a:solidFill>
                  <a:srgbClr val="333333"/>
                </a:solidFill>
                <a:latin typeface="Calibri" pitchFamily="34" charset="0"/>
                <a:ea typeface="Calibri" pitchFamily="34" charset="-122"/>
                <a:cs typeface="Calibri" pitchFamily="34" charset="-120"/>
              </a:rPr>
              <a:t>Add automated database backups and CSV/PDF export of sales and stock reports</a:t>
            </a:r>
            <a:endParaRPr lang="en-US" sz="1250" dirty="0"/>
          </a:p>
        </p:txBody>
      </p:sp>
      <p:sp>
        <p:nvSpPr>
          <p:cNvPr id="14" name="Shape 12"/>
          <p:cNvSpPr/>
          <p:nvPr/>
        </p:nvSpPr>
        <p:spPr>
          <a:xfrm>
            <a:off x="640080" y="3520440"/>
            <a:ext cx="548640" cy="548640"/>
          </a:xfrm>
          <a:prstGeom prst="roundRect">
            <a:avLst>
              <a:gd name="adj" fmla="val 83333"/>
            </a:avLst>
          </a:prstGeom>
          <a:solidFill>
            <a:srgbClr val="028090"/>
          </a:solidFill>
          <a:ln/>
        </p:spPr>
      </p:sp>
      <p:sp>
        <p:nvSpPr>
          <p:cNvPr id="15" name="Text 13"/>
          <p:cNvSpPr/>
          <p:nvPr/>
        </p:nvSpPr>
        <p:spPr>
          <a:xfrm>
            <a:off x="640080" y="3520440"/>
            <a:ext cx="548640" cy="54864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6" name="Shape 14"/>
          <p:cNvSpPr/>
          <p:nvPr/>
        </p:nvSpPr>
        <p:spPr>
          <a:xfrm>
            <a:off x="1371600" y="3547872"/>
            <a:ext cx="10195560" cy="685800"/>
          </a:xfrm>
          <a:prstGeom prst="rect">
            <a:avLst/>
          </a:prstGeom>
          <a:solidFill>
            <a:srgbClr val="EAF6F5"/>
          </a:solidFill>
          <a:ln/>
        </p:spPr>
      </p:sp>
      <p:sp>
        <p:nvSpPr>
          <p:cNvPr id="17" name="Text 15"/>
          <p:cNvSpPr/>
          <p:nvPr/>
        </p:nvSpPr>
        <p:spPr>
          <a:xfrm>
            <a:off x="1554480" y="3547872"/>
            <a:ext cx="2834640" cy="685800"/>
          </a:xfrm>
          <a:prstGeom prst="rect">
            <a:avLst/>
          </a:prstGeom>
          <a:noFill/>
          <a:ln/>
        </p:spPr>
        <p:txBody>
          <a:bodyPr wrap="square" rtlCol="0" anchor="ctr"/>
          <a:lstStyle/>
          <a:p>
            <a:pPr indent="0" marL="0">
              <a:buNone/>
            </a:pPr>
            <a:r>
              <a:rPr lang="en-US" sz="1350" b="1" dirty="0">
                <a:solidFill>
                  <a:srgbClr val="0B2E33"/>
                </a:solidFill>
                <a:latin typeface="Calibri" pitchFamily="34" charset="0"/>
                <a:ea typeface="Calibri" pitchFamily="34" charset="-122"/>
                <a:cs typeface="Calibri" pitchFamily="34" charset="-120"/>
              </a:rPr>
              <a:t>Graphical Interface</a:t>
            </a:r>
            <a:endParaRPr lang="en-US" sz="1350" dirty="0"/>
          </a:p>
        </p:txBody>
      </p:sp>
      <p:sp>
        <p:nvSpPr>
          <p:cNvPr id="18" name="Text 16"/>
          <p:cNvSpPr/>
          <p:nvPr/>
        </p:nvSpPr>
        <p:spPr>
          <a:xfrm>
            <a:off x="4480560" y="3547872"/>
            <a:ext cx="6949440" cy="685800"/>
          </a:xfrm>
          <a:prstGeom prst="rect">
            <a:avLst/>
          </a:prstGeom>
          <a:noFill/>
          <a:ln/>
        </p:spPr>
        <p:txBody>
          <a:bodyPr wrap="square" rtlCol="0" anchor="ctr"/>
          <a:lstStyle/>
          <a:p>
            <a:pPr indent="0" marL="0">
              <a:buNone/>
            </a:pPr>
            <a:r>
              <a:rPr lang="en-US" sz="1250" dirty="0">
                <a:solidFill>
                  <a:srgbClr val="333333"/>
                </a:solidFill>
                <a:latin typeface="Calibri" pitchFamily="34" charset="0"/>
                <a:ea typeface="Calibri" pitchFamily="34" charset="-122"/>
                <a:cs typeface="Calibri" pitchFamily="34" charset="-120"/>
              </a:rPr>
              <a:t>Replace the console UI with a GUI or web-based front end for easier daily use</a:t>
            </a:r>
            <a:endParaRPr lang="en-US" sz="1250" dirty="0"/>
          </a:p>
        </p:txBody>
      </p:sp>
      <p:sp>
        <p:nvSpPr>
          <p:cNvPr id="19" name="Shape 17"/>
          <p:cNvSpPr/>
          <p:nvPr/>
        </p:nvSpPr>
        <p:spPr>
          <a:xfrm>
            <a:off x="640080" y="4389120"/>
            <a:ext cx="548640" cy="548640"/>
          </a:xfrm>
          <a:prstGeom prst="roundRect">
            <a:avLst>
              <a:gd name="adj" fmla="val 83333"/>
            </a:avLst>
          </a:prstGeom>
          <a:solidFill>
            <a:srgbClr val="028090"/>
          </a:solidFill>
          <a:ln/>
        </p:spPr>
      </p:sp>
      <p:sp>
        <p:nvSpPr>
          <p:cNvPr id="20" name="Text 18"/>
          <p:cNvSpPr/>
          <p:nvPr/>
        </p:nvSpPr>
        <p:spPr>
          <a:xfrm>
            <a:off x="640080" y="4389120"/>
            <a:ext cx="548640" cy="54864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1" name="Shape 19"/>
          <p:cNvSpPr/>
          <p:nvPr/>
        </p:nvSpPr>
        <p:spPr>
          <a:xfrm>
            <a:off x="1371600" y="4416552"/>
            <a:ext cx="10195560" cy="685800"/>
          </a:xfrm>
          <a:prstGeom prst="rect">
            <a:avLst/>
          </a:prstGeom>
          <a:solidFill>
            <a:srgbClr val="EAF6F5"/>
          </a:solidFill>
          <a:ln/>
        </p:spPr>
      </p:sp>
      <p:sp>
        <p:nvSpPr>
          <p:cNvPr id="22" name="Text 20"/>
          <p:cNvSpPr/>
          <p:nvPr/>
        </p:nvSpPr>
        <p:spPr>
          <a:xfrm>
            <a:off x="1554480" y="4416552"/>
            <a:ext cx="2834640" cy="685800"/>
          </a:xfrm>
          <a:prstGeom prst="rect">
            <a:avLst/>
          </a:prstGeom>
          <a:noFill/>
          <a:ln/>
        </p:spPr>
        <p:txBody>
          <a:bodyPr wrap="square" rtlCol="0" anchor="ctr"/>
          <a:lstStyle/>
          <a:p>
            <a:pPr indent="0" marL="0">
              <a:buNone/>
            </a:pPr>
            <a:r>
              <a:rPr lang="en-US" sz="1350" b="1" dirty="0">
                <a:solidFill>
                  <a:srgbClr val="0B2E33"/>
                </a:solidFill>
                <a:latin typeface="Calibri" pitchFamily="34" charset="0"/>
                <a:ea typeface="Calibri" pitchFamily="34" charset="-122"/>
                <a:cs typeface="Calibri" pitchFamily="34" charset="-120"/>
              </a:rPr>
              <a:t>Data Integrity</a:t>
            </a:r>
            <a:endParaRPr lang="en-US" sz="1350" dirty="0"/>
          </a:p>
        </p:txBody>
      </p:sp>
      <p:sp>
        <p:nvSpPr>
          <p:cNvPr id="23" name="Text 21"/>
          <p:cNvSpPr/>
          <p:nvPr/>
        </p:nvSpPr>
        <p:spPr>
          <a:xfrm>
            <a:off x="4480560" y="4416552"/>
            <a:ext cx="6949440" cy="685800"/>
          </a:xfrm>
          <a:prstGeom prst="rect">
            <a:avLst/>
          </a:prstGeom>
          <a:noFill/>
          <a:ln/>
        </p:spPr>
        <p:txBody>
          <a:bodyPr wrap="square" rtlCol="0" anchor="ctr"/>
          <a:lstStyle/>
          <a:p>
            <a:pPr indent="0" marL="0">
              <a:buNone/>
            </a:pPr>
            <a:r>
              <a:rPr lang="en-US" sz="1250" dirty="0">
                <a:solidFill>
                  <a:srgbClr val="333333"/>
                </a:solidFill>
                <a:latin typeface="Calibri" pitchFamily="34" charset="0"/>
                <a:ea typeface="Calibri" pitchFamily="34" charset="-122"/>
                <a:cs typeface="Calibri" pitchFamily="34" charset="-120"/>
              </a:rPr>
              <a:t>Enforce foreign-key constraints and guard against deleting referenced records</a:t>
            </a:r>
            <a:endParaRPr lang="en-US" sz="1250" dirty="0"/>
          </a:p>
        </p:txBody>
      </p:sp>
      <p:sp>
        <p:nvSpPr>
          <p:cNvPr id="24" name="Shape 22"/>
          <p:cNvSpPr/>
          <p:nvPr/>
        </p:nvSpPr>
        <p:spPr>
          <a:xfrm>
            <a:off x="640080" y="5257800"/>
            <a:ext cx="548640" cy="548640"/>
          </a:xfrm>
          <a:prstGeom prst="roundRect">
            <a:avLst>
              <a:gd name="adj" fmla="val 83333"/>
            </a:avLst>
          </a:prstGeom>
          <a:solidFill>
            <a:srgbClr val="028090"/>
          </a:solidFill>
          <a:ln/>
        </p:spPr>
      </p:sp>
      <p:sp>
        <p:nvSpPr>
          <p:cNvPr id="25" name="Text 23"/>
          <p:cNvSpPr/>
          <p:nvPr/>
        </p:nvSpPr>
        <p:spPr>
          <a:xfrm>
            <a:off x="640080" y="5257800"/>
            <a:ext cx="548640" cy="54864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6" name="Shape 24"/>
          <p:cNvSpPr/>
          <p:nvPr/>
        </p:nvSpPr>
        <p:spPr>
          <a:xfrm>
            <a:off x="1371600" y="5285232"/>
            <a:ext cx="10195560" cy="685800"/>
          </a:xfrm>
          <a:prstGeom prst="rect">
            <a:avLst/>
          </a:prstGeom>
          <a:solidFill>
            <a:srgbClr val="EAF6F5"/>
          </a:solidFill>
          <a:ln/>
        </p:spPr>
      </p:sp>
      <p:sp>
        <p:nvSpPr>
          <p:cNvPr id="27" name="Text 25"/>
          <p:cNvSpPr/>
          <p:nvPr/>
        </p:nvSpPr>
        <p:spPr>
          <a:xfrm>
            <a:off x="1554480" y="5285232"/>
            <a:ext cx="2834640" cy="685800"/>
          </a:xfrm>
          <a:prstGeom prst="rect">
            <a:avLst/>
          </a:prstGeom>
          <a:noFill/>
          <a:ln/>
        </p:spPr>
        <p:txBody>
          <a:bodyPr wrap="square" rtlCol="0" anchor="ctr"/>
          <a:lstStyle/>
          <a:p>
            <a:pPr indent="0" marL="0">
              <a:buNone/>
            </a:pPr>
            <a:r>
              <a:rPr lang="en-US" sz="1350" b="1" dirty="0">
                <a:solidFill>
                  <a:srgbClr val="0B2E33"/>
                </a:solidFill>
                <a:latin typeface="Calibri" pitchFamily="34" charset="0"/>
                <a:ea typeface="Calibri" pitchFamily="34" charset="-122"/>
                <a:cs typeface="Calibri" pitchFamily="34" charset="-120"/>
              </a:rPr>
              <a:t>Role-Based Access</a:t>
            </a:r>
            <a:endParaRPr lang="en-US" sz="1350" dirty="0"/>
          </a:p>
        </p:txBody>
      </p:sp>
      <p:sp>
        <p:nvSpPr>
          <p:cNvPr id="28" name="Text 26"/>
          <p:cNvSpPr/>
          <p:nvPr/>
        </p:nvSpPr>
        <p:spPr>
          <a:xfrm>
            <a:off x="4480560" y="5285232"/>
            <a:ext cx="6949440" cy="685800"/>
          </a:xfrm>
          <a:prstGeom prst="rect">
            <a:avLst/>
          </a:prstGeom>
          <a:noFill/>
          <a:ln/>
        </p:spPr>
        <p:txBody>
          <a:bodyPr wrap="square" rtlCol="0" anchor="ctr"/>
          <a:lstStyle/>
          <a:p>
            <a:pPr indent="0" marL="0">
              <a:buNone/>
            </a:pPr>
            <a:r>
              <a:rPr lang="en-US" sz="1250" dirty="0">
                <a:solidFill>
                  <a:srgbClr val="333333"/>
                </a:solidFill>
                <a:latin typeface="Calibri" pitchFamily="34" charset="0"/>
                <a:ea typeface="Calibri" pitchFamily="34" charset="-122"/>
                <a:cs typeface="Calibri" pitchFamily="34" charset="-120"/>
              </a:rPr>
              <a:t>Give Admin and Pharmacist accounts distinct permissions within the system</a:t>
            </a:r>
            <a:endParaRPr lang="en-US" sz="1250" dirty="0"/>
          </a:p>
        </p:txBody>
      </p:sp>
      <p:sp>
        <p:nvSpPr>
          <p:cNvPr id="29" name="Text 27"/>
          <p:cNvSpPr/>
          <p:nvPr/>
        </p:nvSpPr>
        <p:spPr>
          <a:xfrm>
            <a:off x="457200" y="6537960"/>
            <a:ext cx="7315200" cy="274320"/>
          </a:xfrm>
          <a:prstGeom prst="rect">
            <a:avLst/>
          </a:prstGeom>
          <a:noFill/>
          <a:ln/>
        </p:spPr>
        <p:txBody>
          <a:bodyPr wrap="square" rtlCol="0" anchor="ctr"/>
          <a:lstStyle/>
          <a:p>
            <a:pPr algn="l" indent="0" marL="0">
              <a:buNone/>
            </a:pPr>
            <a:r>
              <a:rPr lang="en-US" sz="1000" dirty="0">
                <a:solidFill>
                  <a:srgbClr val="595959"/>
                </a:solidFill>
                <a:latin typeface="Calibri" pitchFamily="34" charset="0"/>
                <a:ea typeface="Calibri" pitchFamily="34" charset="-122"/>
                <a:cs typeface="Calibri" pitchFamily="34" charset="-120"/>
              </a:rPr>
              <a:t>Motherland Pharmacy Management System</a:t>
            </a:r>
            <a:endParaRPr lang="en-US" sz="1000" dirty="0"/>
          </a:p>
        </p:txBody>
      </p:sp>
      <p:sp>
        <p:nvSpPr>
          <p:cNvPr id="30" name="Text 28"/>
          <p:cNvSpPr/>
          <p:nvPr/>
        </p:nvSpPr>
        <p:spPr>
          <a:xfrm>
            <a:off x="11521440" y="6537960"/>
            <a:ext cx="45720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2E33"/>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028090"/>
          </a:solidFill>
          <a:ln/>
        </p:spPr>
      </p:sp>
      <p:sp>
        <p:nvSpPr>
          <p:cNvPr id="3" name="Shape 1"/>
          <p:cNvSpPr/>
          <p:nvPr/>
        </p:nvSpPr>
        <p:spPr>
          <a:xfrm>
            <a:off x="8961120" y="3840480"/>
            <a:ext cx="5486400" cy="5486400"/>
          </a:xfrm>
          <a:prstGeom prst="ellipse">
            <a:avLst/>
          </a:prstGeom>
          <a:solidFill>
            <a:srgbClr val="00A896">
              <a:alpha val="12000"/>
            </a:srgbClr>
          </a:solidFill>
          <a:ln/>
        </p:spPr>
      </p:sp>
      <p:sp>
        <p:nvSpPr>
          <p:cNvPr id="4" name="Text 2"/>
          <p:cNvSpPr/>
          <p:nvPr/>
        </p:nvSpPr>
        <p:spPr>
          <a:xfrm>
            <a:off x="822960" y="2468880"/>
            <a:ext cx="9144000" cy="1097280"/>
          </a:xfrm>
          <a:prstGeom prst="rect">
            <a:avLst/>
          </a:prstGeom>
          <a:noFill/>
          <a:ln/>
        </p:spPr>
        <p:txBody>
          <a:bodyPr wrap="square"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THANK YOU</a:t>
            </a:r>
            <a:endParaRPr lang="en-US" sz="4800" dirty="0"/>
          </a:p>
        </p:txBody>
      </p:sp>
      <p:sp>
        <p:nvSpPr>
          <p:cNvPr id="5" name="Text 3"/>
          <p:cNvSpPr/>
          <p:nvPr/>
        </p:nvSpPr>
        <p:spPr>
          <a:xfrm>
            <a:off x="822960" y="3337560"/>
            <a:ext cx="9144000" cy="548640"/>
          </a:xfrm>
          <a:prstGeom prst="rect">
            <a:avLst/>
          </a:prstGeom>
          <a:noFill/>
          <a:ln/>
        </p:spPr>
        <p:txBody>
          <a:bodyPr wrap="square" rtlCol="0" anchor="ctr"/>
          <a:lstStyle/>
          <a:p>
            <a:pPr indent="0" marL="0">
              <a:buNone/>
            </a:pPr>
            <a:r>
              <a:rPr lang="en-US" sz="2000" i="1" dirty="0">
                <a:solidFill>
                  <a:srgbClr val="02C39A"/>
                </a:solidFill>
                <a:latin typeface="Calibri" pitchFamily="34" charset="0"/>
                <a:ea typeface="Calibri" pitchFamily="34" charset="-122"/>
                <a:cs typeface="Calibri" pitchFamily="34" charset="-120"/>
              </a:rPr>
              <a:t>Questions &amp; Discussion</a:t>
            </a:r>
            <a:endParaRPr lang="en-US" sz="2000" dirty="0"/>
          </a:p>
        </p:txBody>
      </p:sp>
      <p:sp>
        <p:nvSpPr>
          <p:cNvPr id="6" name="Shape 4"/>
          <p:cNvSpPr/>
          <p:nvPr/>
        </p:nvSpPr>
        <p:spPr>
          <a:xfrm>
            <a:off x="822960" y="4206240"/>
            <a:ext cx="2926080" cy="0"/>
          </a:xfrm>
          <a:prstGeom prst="line">
            <a:avLst/>
          </a:prstGeom>
          <a:noFill/>
          <a:ln w="25400">
            <a:solidFill>
              <a:srgbClr val="02C39A"/>
            </a:solidFill>
            <a:prstDash val="solid"/>
          </a:ln>
        </p:spPr>
      </p:sp>
      <p:sp>
        <p:nvSpPr>
          <p:cNvPr id="7" name="Text 5"/>
          <p:cNvSpPr/>
          <p:nvPr/>
        </p:nvSpPr>
        <p:spPr>
          <a:xfrm>
            <a:off x="822960" y="4434840"/>
            <a:ext cx="9144000" cy="365760"/>
          </a:xfrm>
          <a:prstGeom prst="rect">
            <a:avLst/>
          </a:prstGeom>
          <a:noFill/>
          <a:ln/>
        </p:spPr>
        <p:txBody>
          <a:bodyPr wrap="square" rtlCol="0" anchor="ctr"/>
          <a:lstStyle/>
          <a:p>
            <a:pPr indent="0" marL="0">
              <a:buNone/>
            </a:pPr>
            <a:r>
              <a:rPr lang="en-US" sz="1400" dirty="0">
                <a:solidFill>
                  <a:srgbClr val="CADCDA"/>
                </a:solidFill>
                <a:latin typeface="Calibri" pitchFamily="34" charset="0"/>
                <a:ea typeface="Calibri" pitchFamily="34" charset="-122"/>
                <a:cs typeface="Calibri" pitchFamily="34" charset="-120"/>
              </a:rPr>
              <a:t>Thierry NDAYISHIMIYE  —  Rwanda Polytechnic (RP) Karongi College</a:t>
            </a:r>
            <a:endParaRPr lang="en-US" sz="1400" dirty="0"/>
          </a:p>
        </p:txBody>
      </p:sp>
      <p:sp>
        <p:nvSpPr>
          <p:cNvPr id="8" name="Text 6"/>
          <p:cNvSpPr/>
          <p:nvPr/>
        </p:nvSpPr>
        <p:spPr>
          <a:xfrm>
            <a:off x="822960" y="4754880"/>
            <a:ext cx="9144000" cy="365760"/>
          </a:xfrm>
          <a:prstGeom prst="rect">
            <a:avLst/>
          </a:prstGeom>
          <a:noFill/>
          <a:ln/>
        </p:spPr>
        <p:txBody>
          <a:bodyPr wrap="square" rtlCol="0" anchor="ctr"/>
          <a:lstStyle/>
          <a:p>
            <a:pPr indent="0" marL="0">
              <a:buNone/>
            </a:pPr>
            <a:r>
              <a:rPr lang="en-US" sz="1400" dirty="0">
                <a:solidFill>
                  <a:srgbClr val="CADCDA"/>
                </a:solidFill>
                <a:latin typeface="Calibri" pitchFamily="34" charset="0"/>
                <a:ea typeface="Calibri" pitchFamily="34" charset="-122"/>
                <a:cs typeface="Calibri" pitchFamily="34" charset="-120"/>
              </a:rPr>
              <a:t>Motherland Pharmacy Management System — C &amp; MySQL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2026-08-02T09:09:11Z</dcterms:created>
  <dcterms:modified xsi:type="dcterms:W3CDTF">2026-08-02T09:09:11Z</dcterms:modified>
</cp:coreProperties>
</file>